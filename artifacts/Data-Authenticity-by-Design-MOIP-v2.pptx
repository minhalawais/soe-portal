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7BD6-C06E-29A9-2CE9-1B2A3D30F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AE462-0F0D-10EF-128B-5CFD6A681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7F0C2-292D-554A-E597-B2D97309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5FEE-56DD-7B51-68B6-9DDC3A7E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AF58B-9BDB-E1DB-FF72-61E526D6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6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E8E0-48EE-F04F-FFE2-27FE2C53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9B7F-0487-5949-E6EC-7B322A21A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62C22-48C7-EB88-C2BF-D8AA848F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2C3B2-CEDD-9379-9ACB-F38487E2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3A8E5-AB86-EC62-60D8-A53F199F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16F6-3C9F-F7D3-883E-4C05B0EB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A3377-A1EB-9974-7E69-B13E10EB1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D4181-1014-2448-683F-C80E00DC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CD79-EF25-BEA0-5709-A3C2BAB0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4A167-28EE-62D7-A736-89C12C81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3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CFE3-0EB5-33BE-78EF-E28EC93E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33DFE-FE7D-0331-C93F-2301F261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49689-60C9-C4F9-7082-BA0C959F2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535AE-9838-91FD-EA5B-2F6D1581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17E4B-0F48-D147-5D0D-0051F976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B6D81-B09B-7186-35BD-3169CD8C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9AE2-E821-64FE-E2C0-0AA94F5A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D3446-5761-2E71-E7B0-61AB0A715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3710C-30F4-43B1-B9B7-B66D96712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B11F0-F047-EC9D-F20E-35DE741BC8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770AC-CDF1-ADEB-09D9-D102C86B6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1602-81D7-0CA7-5070-29715225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7043B-F4C9-CD42-3D5C-F42DBD4D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FA5D8-3EC6-928F-8463-214DC96B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82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C0F2-4EE5-045E-CFFC-CD286CB0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1C9C84-F38A-BF7F-DEB4-49A25DAB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86800-BD6C-8C7D-3FC7-2EC96AC4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B24FE-5330-61DA-74BC-F71D7CAD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0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B6FBAA-478F-69AF-711F-A0BE6254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D2F6E-1A5F-6AD3-585B-2636E62C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5C437-D1A5-1B98-73F1-A132BFB5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3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DD27E-95A6-99D3-8E57-0775E61E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1FD83-5B8E-9440-D8C2-FD90B1872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BCF8D-721C-C056-D6B1-22E21076E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9ED1A-F9BE-840A-7398-B2876A45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28393-C7BD-ED21-3D51-9F6D1873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66EC5-7D7A-48CC-0CAA-482AD4DA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4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3517-2133-B2F5-B65B-4EF83E55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4083F-2432-7E56-F5E3-6C303786E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B66D8-9ABC-D175-F8A3-17A45D945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F97AA-6F26-E2F8-72CA-F5262DB4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9093D-EF7D-73F3-7F39-72700AB8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880F5-00EB-24EF-1582-7BCFB377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1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A781-315F-F9FE-ED5F-E4266558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BB88E-5C38-B7F5-9354-94F7C26C1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9BE16-7F1A-FE3E-00F3-E4FE0BA7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01ECF-C920-B1F2-E18D-4D695054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3223F-B5AE-4A64-ED37-C8970748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4A8171-A0AB-9D4B-2B08-5CF4D7EFB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6D677-18C9-2985-AA0B-8FEFFE85A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FDEBB-C498-62A5-8CE9-CA1F9F35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89DED-4854-80B0-6010-90327E77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E9424-1C49-52A0-9978-5D13117C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681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A89026-5464-D137-B55B-CCE99FD4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03658-AC2B-52AB-172B-4D23B0FD0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0D039-AACB-036D-31DE-508F168F0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F58F0-F5FB-46EB-9B15-81FCFABB60A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A828-089B-4CBF-4AF8-870A85563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D7BAB-61AB-8DF0-4D58-F3CF21DBB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DEA42-0F91-4775-9E13-0BBC3286E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5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B08B0B-2C43-33D7-CE47-F6B71EE858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D0C1F-FCF7-7669-E2DC-2CF48F3A3096}"/>
              </a:ext>
            </a:extLst>
          </p:cNvPr>
          <p:cNvSpPr txBox="1"/>
          <p:nvPr/>
        </p:nvSpPr>
        <p:spPr>
          <a:xfrm>
            <a:off x="584200" y="304800"/>
            <a:ext cx="7366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249B89"/>
                </a:solidFill>
                <a:latin typeface="Aptos Display" panose="020B0004020202020204" pitchFamily="34" charset="0"/>
              </a:rPr>
              <a:t>SOE DATA ASSURANCE  /  MOIP EXECUTIVE BRIEF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DB257-439E-63CF-1263-6093E77738EE}"/>
              </a:ext>
            </a:extLst>
          </p:cNvPr>
          <p:cNvSpPr txBox="1"/>
          <p:nvPr/>
        </p:nvSpPr>
        <p:spPr>
          <a:xfrm>
            <a:off x="584200" y="533399"/>
            <a:ext cx="84455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100" b="1">
                <a:solidFill>
                  <a:srgbClr val="09273F"/>
                </a:solidFill>
                <a:latin typeface="Aptos Display" panose="020B0004020202020204" pitchFamily="34" charset="0"/>
              </a:rPr>
              <a:t>Data Authenticity by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CBD21-55C1-3404-1936-E939CE3EFEE2}"/>
              </a:ext>
            </a:extLst>
          </p:cNvPr>
          <p:cNvSpPr txBox="1"/>
          <p:nvPr/>
        </p:nvSpPr>
        <p:spPr>
          <a:xfrm>
            <a:off x="609600" y="1041400"/>
            <a:ext cx="83185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5C6F83"/>
                </a:solidFill>
                <a:latin typeface="Aptos Display" panose="020B0004020202020204" pitchFamily="34" charset="0"/>
              </a:rPr>
              <a:t>Authenticating the source is not the same as verifying the facts.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D4A9B3-194E-2FFC-8006-B0DC73320247}"/>
              </a:ext>
            </a:extLst>
          </p:cNvPr>
          <p:cNvSpPr/>
          <p:nvPr/>
        </p:nvSpPr>
        <p:spPr>
          <a:xfrm>
            <a:off x="9652000" y="368300"/>
            <a:ext cx="1955800" cy="25400"/>
          </a:xfrm>
          <a:prstGeom prst="rect">
            <a:avLst/>
          </a:prstGeom>
          <a:solidFill>
            <a:srgbClr val="249B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6E35F-E15E-B302-5489-57DB013058FA}"/>
              </a:ext>
            </a:extLst>
          </p:cNvPr>
          <p:cNvSpPr txBox="1"/>
          <p:nvPr/>
        </p:nvSpPr>
        <p:spPr>
          <a:xfrm>
            <a:off x="9652000" y="495300"/>
            <a:ext cx="1955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00" b="1">
                <a:solidFill>
                  <a:srgbClr val="09273F"/>
                </a:solidFill>
                <a:latin typeface="Aptos Display" panose="020B0004020202020204" pitchFamily="34" charset="0"/>
              </a:rPr>
              <a:t>THE DISTINCTION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03138-AF70-7577-2F44-45E19ECB144A}"/>
              </a:ext>
            </a:extLst>
          </p:cNvPr>
          <p:cNvSpPr txBox="1"/>
          <p:nvPr/>
        </p:nvSpPr>
        <p:spPr>
          <a:xfrm>
            <a:off x="9652000" y="749300"/>
            <a:ext cx="19558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50" b="1">
                <a:solidFill>
                  <a:srgbClr val="5C6F83"/>
                </a:solidFill>
                <a:latin typeface="Aptos Display" panose="020B0004020202020204" pitchFamily="34" charset="0"/>
              </a:rPr>
              <a:t>SUBMISSION  vs  CONTENT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82299F-B9AD-259A-4644-D847278AD8D0}"/>
              </a:ext>
            </a:extLst>
          </p:cNvPr>
          <p:cNvSpPr/>
          <p:nvPr/>
        </p:nvSpPr>
        <p:spPr>
          <a:xfrm>
            <a:off x="0" y="1422400"/>
            <a:ext cx="6146800" cy="5435600"/>
          </a:xfrm>
          <a:prstGeom prst="rect">
            <a:avLst/>
          </a:prstGeom>
          <a:solidFill>
            <a:srgbClr val="09273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09893B-146D-0A39-6ACE-B08B4DA1F331}"/>
              </a:ext>
            </a:extLst>
          </p:cNvPr>
          <p:cNvSpPr/>
          <p:nvPr/>
        </p:nvSpPr>
        <p:spPr>
          <a:xfrm>
            <a:off x="6146800" y="1422400"/>
            <a:ext cx="6045200" cy="5435600"/>
          </a:xfrm>
          <a:prstGeom prst="rect">
            <a:avLst/>
          </a:prstGeom>
          <a:solidFill>
            <a:srgbClr val="FFF6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04EA20-4852-A65E-3104-F09D9BBBEB43}"/>
              </a:ext>
            </a:extLst>
          </p:cNvPr>
          <p:cNvSpPr/>
          <p:nvPr/>
        </p:nvSpPr>
        <p:spPr>
          <a:xfrm>
            <a:off x="0" y="1422400"/>
            <a:ext cx="6146800" cy="63500"/>
          </a:xfrm>
          <a:prstGeom prst="rect">
            <a:avLst/>
          </a:prstGeom>
          <a:solidFill>
            <a:srgbClr val="249B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72AD2F-9A58-F188-32B1-07C7B617EBE4}"/>
              </a:ext>
            </a:extLst>
          </p:cNvPr>
          <p:cNvSpPr/>
          <p:nvPr/>
        </p:nvSpPr>
        <p:spPr>
          <a:xfrm>
            <a:off x="6146800" y="1422400"/>
            <a:ext cx="6045200" cy="63500"/>
          </a:xfrm>
          <a:prstGeom prst="rect">
            <a:avLst/>
          </a:prstGeom>
          <a:solidFill>
            <a:srgbClr val="F0A4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9A3A5D-6F39-09EE-44FA-48069A1ECF5F}"/>
              </a:ext>
            </a:extLst>
          </p:cNvPr>
          <p:cNvSpPr/>
          <p:nvPr/>
        </p:nvSpPr>
        <p:spPr>
          <a:xfrm rot="480000">
            <a:off x="5918200" y="1206500"/>
            <a:ext cx="381000" cy="6045200"/>
          </a:xfrm>
          <a:prstGeom prst="rect">
            <a:avLst/>
          </a:prstGeom>
          <a:solidFill>
            <a:srgbClr val="BDC6CF">
              <a:alpha val="42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52400" dist="135003" dir="2471152" rotWithShape="0">
              <a:scrgbClr r="0" g="0" b="0">
                <a:alpha val="42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DCC5E5-9BC3-BC18-DDE9-B3721131B81D}"/>
              </a:ext>
            </a:extLst>
          </p:cNvPr>
          <p:cNvSpPr/>
          <p:nvPr/>
        </p:nvSpPr>
        <p:spPr>
          <a:xfrm rot="480000">
            <a:off x="5816600" y="1168400"/>
            <a:ext cx="304800" cy="6121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8FC6E-C4F3-6242-A74F-0AE11AD53CA1}"/>
              </a:ext>
            </a:extLst>
          </p:cNvPr>
          <p:cNvSpPr txBox="1"/>
          <p:nvPr/>
        </p:nvSpPr>
        <p:spPr>
          <a:xfrm>
            <a:off x="355600" y="1600199"/>
            <a:ext cx="1498600" cy="1333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200" b="1">
                <a:solidFill>
                  <a:srgbClr val="12585B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840906-DBF3-9B2C-4355-D78CDA139966}"/>
              </a:ext>
            </a:extLst>
          </p:cNvPr>
          <p:cNvSpPr txBox="1"/>
          <p:nvPr/>
        </p:nvSpPr>
        <p:spPr>
          <a:xfrm>
            <a:off x="6375400" y="1600199"/>
            <a:ext cx="1498600" cy="1333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200" b="1">
                <a:solidFill>
                  <a:srgbClr val="F6DBAE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0237580-19BB-8164-0858-874F255561AE}"/>
              </a:ext>
            </a:extLst>
          </p:cNvPr>
          <p:cNvSpPr/>
          <p:nvPr/>
        </p:nvSpPr>
        <p:spPr>
          <a:xfrm>
            <a:off x="1562100" y="1714500"/>
            <a:ext cx="381000" cy="381000"/>
          </a:xfrm>
          <a:prstGeom prst="ellipse">
            <a:avLst/>
          </a:prstGeom>
          <a:solidFill>
            <a:srgbClr val="249B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94CAE6-0896-0302-8271-ACD3CE679447}"/>
              </a:ext>
            </a:extLst>
          </p:cNvPr>
          <p:cNvSpPr txBox="1"/>
          <p:nvPr/>
        </p:nvSpPr>
        <p:spPr>
          <a:xfrm>
            <a:off x="1562100" y="1765300"/>
            <a:ext cx="38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DD578A-C812-55E3-086D-04989CA8526E}"/>
              </a:ext>
            </a:extLst>
          </p:cNvPr>
          <p:cNvSpPr txBox="1"/>
          <p:nvPr/>
        </p:nvSpPr>
        <p:spPr>
          <a:xfrm>
            <a:off x="2082800" y="1701799"/>
            <a:ext cx="35306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WE CAN AUTHENTICATE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1BDD9F-996E-6E44-9E30-15639487DECF}"/>
              </a:ext>
            </a:extLst>
          </p:cNvPr>
          <p:cNvSpPr txBox="1"/>
          <p:nvPr/>
        </p:nvSpPr>
        <p:spPr>
          <a:xfrm>
            <a:off x="2082800" y="2006600"/>
            <a:ext cx="35814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B0CDDC"/>
                </a:solidFill>
                <a:latin typeface="Aptos Display" panose="020B0004020202020204" pitchFamily="34" charset="0"/>
              </a:rPr>
              <a:t>Origin, authority and chain of custody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97F648-C9BA-501D-9B90-64B2A7A5CAC7}"/>
              </a:ext>
            </a:extLst>
          </p:cNvPr>
          <p:cNvSpPr/>
          <p:nvPr/>
        </p:nvSpPr>
        <p:spPr>
          <a:xfrm>
            <a:off x="7594600" y="1714500"/>
            <a:ext cx="381000" cy="381000"/>
          </a:xfrm>
          <a:prstGeom prst="ellipse">
            <a:avLst/>
          </a:prstGeom>
          <a:solidFill>
            <a:srgbClr val="F0A4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E6814D-89F6-E72C-BD37-715A5112F059}"/>
              </a:ext>
            </a:extLst>
          </p:cNvPr>
          <p:cNvSpPr txBox="1"/>
          <p:nvPr/>
        </p:nvSpPr>
        <p:spPr>
          <a:xfrm>
            <a:off x="7594600" y="1739899"/>
            <a:ext cx="381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61EC4-6A66-7480-5D62-4A98FE74D12C}"/>
              </a:ext>
            </a:extLst>
          </p:cNvPr>
          <p:cNvSpPr txBox="1"/>
          <p:nvPr/>
        </p:nvSpPr>
        <p:spPr>
          <a:xfrm>
            <a:off x="8115300" y="1701799"/>
            <a:ext cx="3479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42E46"/>
                </a:solidFill>
                <a:latin typeface="Aptos Display" panose="020B0004020202020204" pitchFamily="34" charset="0"/>
              </a:rPr>
              <a:t>WE CANNOT PROVE ALONE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9AB81C-32B3-5456-F9B0-C5FAE2DD9E97}"/>
              </a:ext>
            </a:extLst>
          </p:cNvPr>
          <p:cNvSpPr txBox="1"/>
          <p:nvPr/>
        </p:nvSpPr>
        <p:spPr>
          <a:xfrm>
            <a:off x="8115300" y="2006600"/>
            <a:ext cx="35052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C6F83"/>
                </a:solidFill>
                <a:latin typeface="Aptos Display" panose="020B0004020202020204" pitchFamily="34" charset="0"/>
              </a:rPr>
              <a:t>Truth and completeness need corroboration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6373677-E31C-B786-2FA1-17BBD1C958B7}"/>
              </a:ext>
            </a:extLst>
          </p:cNvPr>
          <p:cNvSpPr/>
          <p:nvPr/>
        </p:nvSpPr>
        <p:spPr>
          <a:xfrm>
            <a:off x="1562100" y="2501900"/>
            <a:ext cx="482600" cy="482600"/>
          </a:xfrm>
          <a:prstGeom prst="ellipse">
            <a:avLst/>
          </a:prstGeom>
          <a:solidFill>
            <a:srgbClr val="0F4454"/>
          </a:solidFill>
          <a:ln w="15240">
            <a:solidFill>
              <a:srgbClr val="2FAA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AEA28-58F8-7020-5262-C5A0A314E433}"/>
              </a:ext>
            </a:extLst>
          </p:cNvPr>
          <p:cNvSpPr txBox="1"/>
          <p:nvPr/>
        </p:nvSpPr>
        <p:spPr>
          <a:xfrm>
            <a:off x="1562100" y="26416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85DACC"/>
                </a:solidFill>
                <a:latin typeface="Aptos Display" panose="020B0004020202020204" pitchFamily="34" charset="0"/>
              </a:rPr>
              <a:t>ID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CDE73-33A5-5ED9-3729-E2C80B651BC7}"/>
              </a:ext>
            </a:extLst>
          </p:cNvPr>
          <p:cNvSpPr txBox="1"/>
          <p:nvPr/>
        </p:nvSpPr>
        <p:spPr>
          <a:xfrm>
            <a:off x="2209800" y="24765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FFFFFF"/>
                </a:solidFill>
                <a:latin typeface="Aptos Display" panose="020B0004020202020204" pitchFamily="34" charset="0"/>
              </a:rPr>
              <a:t>Authorized identity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B4F2BC-9724-A453-7AC9-E74E76FB4F99}"/>
              </a:ext>
            </a:extLst>
          </p:cNvPr>
          <p:cNvSpPr txBox="1"/>
          <p:nvPr/>
        </p:nvSpPr>
        <p:spPr>
          <a:xfrm>
            <a:off x="2209800" y="2755899"/>
            <a:ext cx="3302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AEC9D8"/>
                </a:solidFill>
                <a:latin typeface="Aptos Display" panose="020B0004020202020204" pitchFamily="34" charset="0"/>
              </a:rPr>
              <a:t>Named SOE account secured by MFA or SSO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E6E3AE2-4282-9067-53F9-FE88F74A67C8}"/>
              </a:ext>
            </a:extLst>
          </p:cNvPr>
          <p:cNvSpPr/>
          <p:nvPr/>
        </p:nvSpPr>
        <p:spPr>
          <a:xfrm>
            <a:off x="7594600" y="2501900"/>
            <a:ext cx="482600" cy="482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DB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E099EF-D7B0-D55A-FF73-BD311D21750D}"/>
              </a:ext>
            </a:extLst>
          </p:cNvPr>
          <p:cNvSpPr txBox="1"/>
          <p:nvPr/>
        </p:nvSpPr>
        <p:spPr>
          <a:xfrm>
            <a:off x="7594600" y="26416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16904"/>
                </a:solidFill>
                <a:latin typeface="Aptos Display" panose="020B0004020202020204" pitchFamily="34" charset="0"/>
              </a:rPr>
              <a:t>FACT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8B374E-B755-62A3-68D1-6A9B9FAF3941}"/>
              </a:ext>
            </a:extLst>
          </p:cNvPr>
          <p:cNvSpPr txBox="1"/>
          <p:nvPr/>
        </p:nvSpPr>
        <p:spPr>
          <a:xfrm>
            <a:off x="8242300" y="24765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142E46"/>
                </a:solidFill>
                <a:latin typeface="Aptos Display" panose="020B0004020202020204" pitchFamily="34" charset="0"/>
              </a:rPr>
              <a:t>Factual truth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46DECA-F98D-7E85-21D9-62EC04293712}"/>
              </a:ext>
            </a:extLst>
          </p:cNvPr>
          <p:cNvSpPr txBox="1"/>
          <p:nvPr/>
        </p:nvSpPr>
        <p:spPr>
          <a:xfrm>
            <a:off x="8242300" y="2755899"/>
            <a:ext cx="3340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C6F83"/>
                </a:solidFill>
                <a:latin typeface="Aptos Display" panose="020B0004020202020204" pitchFamily="34" charset="0"/>
              </a:rPr>
              <a:t>Whether reported figures reflect real operations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08A742C-0B42-1780-2648-F7B372AD01B7}"/>
              </a:ext>
            </a:extLst>
          </p:cNvPr>
          <p:cNvSpPr/>
          <p:nvPr/>
        </p:nvSpPr>
        <p:spPr>
          <a:xfrm>
            <a:off x="1562100" y="3187700"/>
            <a:ext cx="4038600" cy="8255"/>
          </a:xfrm>
          <a:prstGeom prst="rect">
            <a:avLst/>
          </a:prstGeom>
          <a:solidFill>
            <a:srgbClr val="3252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9705C5-74E2-E1A4-8712-34978A913609}"/>
              </a:ext>
            </a:extLst>
          </p:cNvPr>
          <p:cNvSpPr/>
          <p:nvPr/>
        </p:nvSpPr>
        <p:spPr>
          <a:xfrm>
            <a:off x="7594600" y="3187700"/>
            <a:ext cx="4038600" cy="8255"/>
          </a:xfrm>
          <a:prstGeom prst="rect">
            <a:avLst/>
          </a:prstGeom>
          <a:solidFill>
            <a:srgbClr val="E8D3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C39557-84EB-6142-4068-158486AE89BA}"/>
              </a:ext>
            </a:extLst>
          </p:cNvPr>
          <p:cNvSpPr/>
          <p:nvPr/>
        </p:nvSpPr>
        <p:spPr>
          <a:xfrm>
            <a:off x="1562100" y="3327400"/>
            <a:ext cx="482600" cy="482600"/>
          </a:xfrm>
          <a:prstGeom prst="ellipse">
            <a:avLst/>
          </a:prstGeom>
          <a:solidFill>
            <a:srgbClr val="0F4454"/>
          </a:solidFill>
          <a:ln w="15240">
            <a:solidFill>
              <a:srgbClr val="2FAA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D04187-A505-8167-1AC1-C7E0036C995F}"/>
              </a:ext>
            </a:extLst>
          </p:cNvPr>
          <p:cNvSpPr txBox="1"/>
          <p:nvPr/>
        </p:nvSpPr>
        <p:spPr>
          <a:xfrm>
            <a:off x="1562100" y="34671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85DACC"/>
                </a:solidFill>
                <a:latin typeface="Aptos Display" panose="020B0004020202020204" pitchFamily="34" charset="0"/>
              </a:rPr>
              <a:t>ROLE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D6B30F-AB93-B87D-E200-9A81196ED35B}"/>
              </a:ext>
            </a:extLst>
          </p:cNvPr>
          <p:cNvSpPr txBox="1"/>
          <p:nvPr/>
        </p:nvSpPr>
        <p:spPr>
          <a:xfrm>
            <a:off x="2209800" y="33020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FFFFFF"/>
                </a:solidFill>
                <a:latin typeface="Aptos Display" panose="020B0004020202020204" pitchFamily="34" charset="0"/>
              </a:rPr>
              <a:t>SOE authority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747A38-AF6B-A17C-49C3-55B24A3247A5}"/>
              </a:ext>
            </a:extLst>
          </p:cNvPr>
          <p:cNvSpPr txBox="1"/>
          <p:nvPr/>
        </p:nvSpPr>
        <p:spPr>
          <a:xfrm>
            <a:off x="2209800" y="3581399"/>
            <a:ext cx="3302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AEC9D8"/>
                </a:solidFill>
                <a:latin typeface="Aptos Display" panose="020B0004020202020204" pitchFamily="34" charset="0"/>
              </a:rPr>
              <a:t>Approved role and nominated data owner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A4AF643-E244-C4D7-5616-534117E7CCDE}"/>
              </a:ext>
            </a:extLst>
          </p:cNvPr>
          <p:cNvSpPr/>
          <p:nvPr/>
        </p:nvSpPr>
        <p:spPr>
          <a:xfrm>
            <a:off x="7594600" y="3327400"/>
            <a:ext cx="482600" cy="482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DB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57B87E-0B2F-E507-6004-364F6836A837}"/>
              </a:ext>
            </a:extLst>
          </p:cNvPr>
          <p:cNvSpPr txBox="1"/>
          <p:nvPr/>
        </p:nvSpPr>
        <p:spPr>
          <a:xfrm>
            <a:off x="7594600" y="34671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16904"/>
                </a:solidFill>
                <a:latin typeface="Aptos Display" panose="020B0004020202020204" pitchFamily="34" charset="0"/>
              </a:rPr>
              <a:t>ALL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04D521-DB2F-0078-7E4A-FB826B36D33A}"/>
              </a:ext>
            </a:extLst>
          </p:cNvPr>
          <p:cNvSpPr txBox="1"/>
          <p:nvPr/>
        </p:nvSpPr>
        <p:spPr>
          <a:xfrm>
            <a:off x="8242300" y="33020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142E46"/>
                </a:solidFill>
                <a:latin typeface="Aptos Display" panose="020B0004020202020204" pitchFamily="34" charset="0"/>
              </a:rPr>
              <a:t>Completeness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C32912-E61A-AF64-E01B-91998D9DBD60}"/>
              </a:ext>
            </a:extLst>
          </p:cNvPr>
          <p:cNvSpPr txBox="1"/>
          <p:nvPr/>
        </p:nvSpPr>
        <p:spPr>
          <a:xfrm>
            <a:off x="8242300" y="3581399"/>
            <a:ext cx="3340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C6F83"/>
                </a:solidFill>
                <a:latin typeface="Aptos Display" panose="020B0004020202020204" pitchFamily="34" charset="0"/>
              </a:rPr>
              <a:t>Whether assets, liabilities or events were omitted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88C6E2-E27A-2889-59B5-92BEFF8C2EB7}"/>
              </a:ext>
            </a:extLst>
          </p:cNvPr>
          <p:cNvSpPr/>
          <p:nvPr/>
        </p:nvSpPr>
        <p:spPr>
          <a:xfrm>
            <a:off x="1562100" y="4013200"/>
            <a:ext cx="4038600" cy="8255"/>
          </a:xfrm>
          <a:prstGeom prst="rect">
            <a:avLst/>
          </a:prstGeom>
          <a:solidFill>
            <a:srgbClr val="3252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71FFA7-0D22-D479-60E8-5A397B8CF5DD}"/>
              </a:ext>
            </a:extLst>
          </p:cNvPr>
          <p:cNvSpPr/>
          <p:nvPr/>
        </p:nvSpPr>
        <p:spPr>
          <a:xfrm>
            <a:off x="7594600" y="4013200"/>
            <a:ext cx="4038600" cy="8255"/>
          </a:xfrm>
          <a:prstGeom prst="rect">
            <a:avLst/>
          </a:prstGeom>
          <a:solidFill>
            <a:srgbClr val="E8D3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8A89BC8-8777-FC59-3B72-DDC589D88D1E}"/>
              </a:ext>
            </a:extLst>
          </p:cNvPr>
          <p:cNvSpPr/>
          <p:nvPr/>
        </p:nvSpPr>
        <p:spPr>
          <a:xfrm>
            <a:off x="1562100" y="4152900"/>
            <a:ext cx="482600" cy="482600"/>
          </a:xfrm>
          <a:prstGeom prst="ellipse">
            <a:avLst/>
          </a:prstGeom>
          <a:solidFill>
            <a:srgbClr val="0F4454"/>
          </a:solidFill>
          <a:ln w="15240">
            <a:solidFill>
              <a:srgbClr val="2FAA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0710C5-F9B5-E48F-2035-50C340959B3C}"/>
              </a:ext>
            </a:extLst>
          </p:cNvPr>
          <p:cNvSpPr txBox="1"/>
          <p:nvPr/>
        </p:nvSpPr>
        <p:spPr>
          <a:xfrm>
            <a:off x="1562100" y="42926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85DACC"/>
                </a:solidFill>
                <a:latin typeface="Aptos Display" panose="020B0004020202020204" pitchFamily="34" charset="0"/>
              </a:rPr>
              <a:t>LOG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86DC38-710C-90D6-BAA9-31F6AF28BC2B}"/>
              </a:ext>
            </a:extLst>
          </p:cNvPr>
          <p:cNvSpPr txBox="1"/>
          <p:nvPr/>
        </p:nvSpPr>
        <p:spPr>
          <a:xfrm>
            <a:off x="2209800" y="41275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FFFFFF"/>
                </a:solidFill>
                <a:latin typeface="Aptos Display" panose="020B0004020202020204" pitchFamily="34" charset="0"/>
              </a:rPr>
              <a:t>Submission provenance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E55FE6-28BD-D63E-7D54-597F8B2779CD}"/>
              </a:ext>
            </a:extLst>
          </p:cNvPr>
          <p:cNvSpPr txBox="1"/>
          <p:nvPr/>
        </p:nvSpPr>
        <p:spPr>
          <a:xfrm>
            <a:off x="2209800" y="4406899"/>
            <a:ext cx="3302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AEC9D8"/>
                </a:solidFill>
                <a:latin typeface="Aptos Display" panose="020B0004020202020204" pitchFamily="34" charset="0"/>
              </a:rPr>
              <a:t>User, timestamp, session and device recorded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6159F70-8367-2A3E-1D41-4F64E88C78A3}"/>
              </a:ext>
            </a:extLst>
          </p:cNvPr>
          <p:cNvSpPr/>
          <p:nvPr/>
        </p:nvSpPr>
        <p:spPr>
          <a:xfrm>
            <a:off x="7594600" y="4152900"/>
            <a:ext cx="482600" cy="482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DB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F01391-6532-D873-C1E9-C074EDD8DAF6}"/>
              </a:ext>
            </a:extLst>
          </p:cNvPr>
          <p:cNvSpPr txBox="1"/>
          <p:nvPr/>
        </p:nvSpPr>
        <p:spPr>
          <a:xfrm>
            <a:off x="7594600" y="42926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16904"/>
                </a:solidFill>
                <a:latin typeface="Aptos Display" panose="020B0004020202020204" pitchFamily="34" charset="0"/>
              </a:rPr>
              <a:t>DOC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4010A5-B2E2-3DE6-1A3F-FCEB3B750DFA}"/>
              </a:ext>
            </a:extLst>
          </p:cNvPr>
          <p:cNvSpPr txBox="1"/>
          <p:nvPr/>
        </p:nvSpPr>
        <p:spPr>
          <a:xfrm>
            <a:off x="8242300" y="41275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142E46"/>
                </a:solidFill>
                <a:latin typeface="Aptos Display" panose="020B0004020202020204" pitchFamily="34" charset="0"/>
              </a:rPr>
              <a:t>Source genuineness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59A3C7-0DF5-3780-AB0C-E4C946ACEC3F}"/>
              </a:ext>
            </a:extLst>
          </p:cNvPr>
          <p:cNvSpPr txBox="1"/>
          <p:nvPr/>
        </p:nvSpPr>
        <p:spPr>
          <a:xfrm>
            <a:off x="8242300" y="4406899"/>
            <a:ext cx="3340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C6F83"/>
                </a:solidFill>
                <a:latin typeface="Aptos Display" panose="020B0004020202020204" pitchFamily="34" charset="0"/>
              </a:rPr>
              <a:t>Whether evidence is genuine without issuer validation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E4DBCD-A484-CEA1-FE28-24E288D6A2AA}"/>
              </a:ext>
            </a:extLst>
          </p:cNvPr>
          <p:cNvSpPr/>
          <p:nvPr/>
        </p:nvSpPr>
        <p:spPr>
          <a:xfrm>
            <a:off x="1562100" y="4838700"/>
            <a:ext cx="4038600" cy="8255"/>
          </a:xfrm>
          <a:prstGeom prst="rect">
            <a:avLst/>
          </a:prstGeom>
          <a:solidFill>
            <a:srgbClr val="3252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5D1C70-BBF9-202F-4B9F-E5E4F9DA91E8}"/>
              </a:ext>
            </a:extLst>
          </p:cNvPr>
          <p:cNvSpPr/>
          <p:nvPr/>
        </p:nvSpPr>
        <p:spPr>
          <a:xfrm>
            <a:off x="7594600" y="4838700"/>
            <a:ext cx="4038600" cy="8255"/>
          </a:xfrm>
          <a:prstGeom prst="rect">
            <a:avLst/>
          </a:prstGeom>
          <a:solidFill>
            <a:srgbClr val="E8D3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A91BBF1-40D4-BCC1-5438-5D06DF40940D}"/>
              </a:ext>
            </a:extLst>
          </p:cNvPr>
          <p:cNvSpPr/>
          <p:nvPr/>
        </p:nvSpPr>
        <p:spPr>
          <a:xfrm>
            <a:off x="1562100" y="4978400"/>
            <a:ext cx="482600" cy="482600"/>
          </a:xfrm>
          <a:prstGeom prst="ellipse">
            <a:avLst/>
          </a:prstGeom>
          <a:solidFill>
            <a:srgbClr val="0F4454"/>
          </a:solidFill>
          <a:ln w="15240">
            <a:solidFill>
              <a:srgbClr val="2FAA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CE433F-F632-3667-CC39-0E10342DE61E}"/>
              </a:ext>
            </a:extLst>
          </p:cNvPr>
          <p:cNvSpPr txBox="1"/>
          <p:nvPr/>
        </p:nvSpPr>
        <p:spPr>
          <a:xfrm>
            <a:off x="1562100" y="51181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85DACC"/>
                </a:solidFill>
                <a:latin typeface="Aptos Display" panose="020B0004020202020204" pitchFamily="34" charset="0"/>
              </a:rPr>
              <a:t>HASH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6B0359-FC0A-AA0A-A74E-51EB7AE17C2C}"/>
              </a:ext>
            </a:extLst>
          </p:cNvPr>
          <p:cNvSpPr txBox="1"/>
          <p:nvPr/>
        </p:nvSpPr>
        <p:spPr>
          <a:xfrm>
            <a:off x="2209800" y="49530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FFFFFF"/>
                </a:solidFill>
                <a:latin typeface="Aptos Display" panose="020B0004020202020204" pitchFamily="34" charset="0"/>
              </a:rPr>
              <a:t>Record integrity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347DB7-CAEE-ECF9-B4B5-3DDB622C79EB}"/>
              </a:ext>
            </a:extLst>
          </p:cNvPr>
          <p:cNvSpPr txBox="1"/>
          <p:nvPr/>
        </p:nvSpPr>
        <p:spPr>
          <a:xfrm>
            <a:off x="2209800" y="5232399"/>
            <a:ext cx="3302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AEC9D8"/>
                </a:solidFill>
                <a:latin typeface="Aptos Display" panose="020B0004020202020204" pitchFamily="34" charset="0"/>
              </a:rPr>
              <a:t>Version history, hashes and tamper-evident logs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7CE8661-A0B5-4010-7BA7-8C2B946DCB95}"/>
              </a:ext>
            </a:extLst>
          </p:cNvPr>
          <p:cNvSpPr/>
          <p:nvPr/>
        </p:nvSpPr>
        <p:spPr>
          <a:xfrm>
            <a:off x="7594600" y="4978400"/>
            <a:ext cx="482600" cy="482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DB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8C88852-51C8-2914-B435-629BD657DD85}"/>
              </a:ext>
            </a:extLst>
          </p:cNvPr>
          <p:cNvSpPr txBox="1"/>
          <p:nvPr/>
        </p:nvSpPr>
        <p:spPr>
          <a:xfrm>
            <a:off x="7594600" y="51181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16904"/>
                </a:solidFill>
                <a:latin typeface="Aptos Display" panose="020B0004020202020204" pitchFamily="34" charset="0"/>
              </a:rPr>
              <a:t>USER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D33941-4DEA-DB9B-242E-A7F15E37297B}"/>
              </a:ext>
            </a:extLst>
          </p:cNvPr>
          <p:cNvSpPr txBox="1"/>
          <p:nvPr/>
        </p:nvSpPr>
        <p:spPr>
          <a:xfrm>
            <a:off x="8242300" y="49530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142E46"/>
                </a:solidFill>
                <a:latin typeface="Aptos Display" panose="020B0004020202020204" pitchFamily="34" charset="0"/>
              </a:rPr>
              <a:t>Credential misuse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FCECC6-C4A4-B6A3-5D2E-70709A6B4EDD}"/>
              </a:ext>
            </a:extLst>
          </p:cNvPr>
          <p:cNvSpPr txBox="1"/>
          <p:nvPr/>
        </p:nvSpPr>
        <p:spPr>
          <a:xfrm>
            <a:off x="8242300" y="5232399"/>
            <a:ext cx="3340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C6F83"/>
                </a:solidFill>
                <a:latin typeface="Aptos Display" panose="020B0004020202020204" pitchFamily="34" charset="0"/>
              </a:rPr>
              <a:t>Whether an approved account was shared or coerced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E002E9B-8FF1-CFE2-178B-1A67EB67CA9A}"/>
              </a:ext>
            </a:extLst>
          </p:cNvPr>
          <p:cNvSpPr/>
          <p:nvPr/>
        </p:nvSpPr>
        <p:spPr>
          <a:xfrm>
            <a:off x="1562100" y="5664200"/>
            <a:ext cx="4038600" cy="8255"/>
          </a:xfrm>
          <a:prstGeom prst="rect">
            <a:avLst/>
          </a:prstGeom>
          <a:solidFill>
            <a:srgbClr val="3252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EB11852-07EE-9CF5-179F-0580A470AD29}"/>
              </a:ext>
            </a:extLst>
          </p:cNvPr>
          <p:cNvSpPr/>
          <p:nvPr/>
        </p:nvSpPr>
        <p:spPr>
          <a:xfrm>
            <a:off x="7594600" y="5664200"/>
            <a:ext cx="4038600" cy="8255"/>
          </a:xfrm>
          <a:prstGeom prst="rect">
            <a:avLst/>
          </a:prstGeom>
          <a:solidFill>
            <a:srgbClr val="E8D3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015109B-8FD1-3210-FC3B-A54AB1812057}"/>
              </a:ext>
            </a:extLst>
          </p:cNvPr>
          <p:cNvSpPr/>
          <p:nvPr/>
        </p:nvSpPr>
        <p:spPr>
          <a:xfrm>
            <a:off x="1562100" y="5803900"/>
            <a:ext cx="482600" cy="482600"/>
          </a:xfrm>
          <a:prstGeom prst="ellipse">
            <a:avLst/>
          </a:prstGeom>
          <a:solidFill>
            <a:srgbClr val="0F4454"/>
          </a:solidFill>
          <a:ln w="15240">
            <a:solidFill>
              <a:srgbClr val="2FAA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D6244B-DC6D-D4F9-8B67-51D303F53792}"/>
              </a:ext>
            </a:extLst>
          </p:cNvPr>
          <p:cNvSpPr txBox="1"/>
          <p:nvPr/>
        </p:nvSpPr>
        <p:spPr>
          <a:xfrm>
            <a:off x="1562100" y="59436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85DACC"/>
                </a:solidFill>
                <a:latin typeface="Aptos Display" panose="020B0004020202020204" pitchFamily="34" charset="0"/>
              </a:rPr>
              <a:t>SIGN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0F8D90-F886-1C1D-59FE-CC79F0DF34D9}"/>
              </a:ext>
            </a:extLst>
          </p:cNvPr>
          <p:cNvSpPr txBox="1"/>
          <p:nvPr/>
        </p:nvSpPr>
        <p:spPr>
          <a:xfrm>
            <a:off x="2209800" y="57785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FFFFFF"/>
                </a:solidFill>
                <a:latin typeface="Aptos Display" panose="020B0004020202020204" pitchFamily="34" charset="0"/>
              </a:rPr>
              <a:t>Accountability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4187763-5BF0-3BEA-7BBB-E3BAB6A4CAB2}"/>
              </a:ext>
            </a:extLst>
          </p:cNvPr>
          <p:cNvSpPr txBox="1"/>
          <p:nvPr/>
        </p:nvSpPr>
        <p:spPr>
          <a:xfrm>
            <a:off x="2209800" y="6057899"/>
            <a:ext cx="3302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AEC9D8"/>
                </a:solidFill>
                <a:latin typeface="Aptos Display" panose="020B0004020202020204" pitchFamily="34" charset="0"/>
              </a:rPr>
              <a:t>Maker-checker approval and digital sign-off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7E4120F-213A-4FAE-5595-B75AEAB5F82D}"/>
              </a:ext>
            </a:extLst>
          </p:cNvPr>
          <p:cNvSpPr/>
          <p:nvPr/>
        </p:nvSpPr>
        <p:spPr>
          <a:xfrm>
            <a:off x="7594600" y="5803900"/>
            <a:ext cx="482600" cy="4826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DB5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2133C3-4D21-22A7-14CB-EB32D53DC460}"/>
              </a:ext>
            </a:extLst>
          </p:cNvPr>
          <p:cNvSpPr txBox="1"/>
          <p:nvPr/>
        </p:nvSpPr>
        <p:spPr>
          <a:xfrm>
            <a:off x="7594600" y="5943600"/>
            <a:ext cx="482600" cy="15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750" b="1">
                <a:solidFill>
                  <a:srgbClr val="B16904"/>
                </a:solidFill>
                <a:latin typeface="Aptos Display" panose="020B0004020202020204" pitchFamily="34" charset="0"/>
              </a:rPr>
              <a:t>OFF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AC12EC-1DB3-1683-12F4-80AEE3DBB145}"/>
              </a:ext>
            </a:extLst>
          </p:cNvPr>
          <p:cNvSpPr txBox="1"/>
          <p:nvPr/>
        </p:nvSpPr>
        <p:spPr>
          <a:xfrm>
            <a:off x="8242300" y="5778500"/>
            <a:ext cx="32385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 b="1">
                <a:solidFill>
                  <a:srgbClr val="142E46"/>
                </a:solidFill>
                <a:latin typeface="Aptos Display" panose="020B0004020202020204" pitchFamily="34" charset="0"/>
              </a:rPr>
              <a:t>Offline conduct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A5FDEA-23EB-55E5-8BBA-C58D0D27A13F}"/>
              </a:ext>
            </a:extLst>
          </p:cNvPr>
          <p:cNvSpPr txBox="1"/>
          <p:nvPr/>
        </p:nvSpPr>
        <p:spPr>
          <a:xfrm>
            <a:off x="8242300" y="6057899"/>
            <a:ext cx="33401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>
                <a:solidFill>
                  <a:srgbClr val="5C6F83"/>
                </a:solidFill>
                <a:latin typeface="Aptos Display" panose="020B0004020202020204" pitchFamily="34" charset="0"/>
              </a:rPr>
              <a:t>Collusion, backdating or activity outside the system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01F1EDC1-3202-CBC7-E6DB-78AF1A9ED5CE}"/>
              </a:ext>
            </a:extLst>
          </p:cNvPr>
          <p:cNvSpPr/>
          <p:nvPr/>
        </p:nvSpPr>
        <p:spPr>
          <a:xfrm>
            <a:off x="5753100" y="1549400"/>
            <a:ext cx="685800" cy="6858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5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453B6D-A075-7EF2-C5A1-AA5CB38CD4C2}"/>
              </a:ext>
            </a:extLst>
          </p:cNvPr>
          <p:cNvSpPr txBox="1"/>
          <p:nvPr/>
        </p:nvSpPr>
        <p:spPr>
          <a:xfrm>
            <a:off x="5753100" y="1752600"/>
            <a:ext cx="6858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>
                <a:solidFill>
                  <a:srgbClr val="09273F"/>
                </a:solidFill>
                <a:latin typeface="Aptos Display" panose="020B0004020202020204" pitchFamily="34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40838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2026-08-24T07:20:32Z</dcterms:created>
  <dcterms:modified xsi:type="dcterms:W3CDTF">2026-08-24T07:20:32Z</dcterms:modified>
</cp:coreProperties>
</file>