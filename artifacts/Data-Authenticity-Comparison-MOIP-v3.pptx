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102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3C368-A02B-7D2C-CA7B-C494F84B62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5CC251-3B72-549E-E843-F7A873C2CB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EDA010-0795-9937-CF71-4585172D3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14931-B3E8-4A69-8CEB-06A57EB045F3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F7A171-6146-3584-8B34-065909FEE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9EC458-3D3A-F507-93E6-DE2557F25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E15C0-6DF2-4DFC-B5B1-7F4FF10F1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370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CADFF-15E1-F7EB-182F-B813A0419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3E141-99A8-0EB9-7651-BCF668FC59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CB2A1C-C553-0CF2-992E-505F3F333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14931-B3E8-4A69-8CEB-06A57EB045F3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1E08F0-387C-0818-8B0B-3DA31304D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6D94F-6F16-D46A-86C3-22D11C36E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E15C0-6DF2-4DFC-B5B1-7F4FF10F1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726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08FF0-BDAB-80B1-2D33-2B5F9F77A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A488E4-1E81-A0B9-EB52-E0201C4E5B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F6B21B-C032-A1C7-163B-9853AF0A5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14931-B3E8-4A69-8CEB-06A57EB045F3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6CC1C-C1E0-767C-107F-F4150A220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BEC111-4059-160A-12C1-3208331B9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E15C0-6DF2-4DFC-B5B1-7F4FF10F1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916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70ED5-F927-E785-0FA7-CC6D4168D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02F9E-EB36-A3E3-77ED-F0D967849B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D87D45-C7AC-28C5-6E57-5EDF2B9CC7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D8D0AD-FCBC-8D6B-5440-CF30E3B1D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14931-B3E8-4A69-8CEB-06A57EB045F3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4A0D26-E216-454D-13E8-8AA2A2469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1E1A44-B3A8-A0EE-5AD4-C7832BB52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E15C0-6DF2-4DFC-B5B1-7F4FF10F1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562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E96C2-78FF-D8F1-7204-D56D62705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0D1AA4-D864-7001-864B-54EB3BA05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6A4A39-963A-2340-79F3-157D8D943F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881792-5938-67B7-F275-6B452FE766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39BCC4-0896-29D6-B6F0-755FA36371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C00262-1DD7-D0F2-3C81-992A467D6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14931-B3E8-4A69-8CEB-06A57EB045F3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82AA45-9C6E-B328-BD29-A69179D35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D18CD5-0971-9914-2F76-6BCC00BD1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E15C0-6DF2-4DFC-B5B1-7F4FF10F1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262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C6400-4D9C-FEF1-7A32-73D2D907F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14B422-615D-4C67-C309-28F6111CA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14931-B3E8-4A69-8CEB-06A57EB045F3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EB54E6-A93C-26A5-E43D-6BF37F82F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9104E1-4DF2-D419-DB2D-4A119EA4E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E15C0-6DF2-4DFC-B5B1-7F4FF10F1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099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437742-4636-E668-F620-B26A8F09E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14931-B3E8-4A69-8CEB-06A57EB045F3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395A56-1FD5-EB17-E512-09B67FA01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1E8BFD-6600-D513-542D-490A74597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E15C0-6DF2-4DFC-B5B1-7F4FF10F1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296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4B0AC-8071-C7F9-C04D-065AD2B21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5931A-D3DA-68C3-C8FD-5A3B47148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E6B00C-152D-B913-3936-94F0E8CFA5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FC52B6-1AD3-0969-7321-509030BC8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14931-B3E8-4A69-8CEB-06A57EB045F3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2988D1-A21A-A4D9-E50B-F284D4C41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E8AB2E-C0CC-8B35-C89F-355C9E526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E15C0-6DF2-4DFC-B5B1-7F4FF10F1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764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9179C-41C2-6A4E-5BB1-7776F23A0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8D81C9-1998-DCDF-1D37-1AAC967DE1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1D8937-3B3F-41C2-6E8C-F70D6167A3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48A808-7152-5A91-7944-919484DA0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14931-B3E8-4A69-8CEB-06A57EB045F3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B53FE7-AE17-B5F1-31AE-907189C4D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C41216-966A-0963-EB74-B519CA8C9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E15C0-6DF2-4DFC-B5B1-7F4FF10F1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459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ACA04-43C9-06AF-7E7A-C907A729E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CAB98B-B230-2B53-FDCD-4F3157581D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0A1E4B-EC5E-834B-AD1D-4416D746A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14931-B3E8-4A69-8CEB-06A57EB045F3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3FB902-089D-3922-24DE-43C0AE82F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82C202-B745-0722-C809-72BFC78DB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E15C0-6DF2-4DFC-B5B1-7F4FF10F1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197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3EC9C9-11F1-A8A0-5480-6F42E798AB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A66349-34AF-BED5-1DFC-8E0A12905F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260B2F-1A88-030A-6D78-5380719C2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14931-B3E8-4A69-8CEB-06A57EB045F3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101FD-2BEB-928A-B9E8-96CAA3606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FD935-06ED-8686-C80B-419809097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E15C0-6DF2-4DFC-B5B1-7F4FF10F1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854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99653E-E430-F11B-021A-FBF9187E5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09F9B6-3EDD-51D3-F58B-AEF3EA60A7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3908B4-6246-5C1B-F71E-4AE8903214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214931-B3E8-4A69-8CEB-06A57EB045F3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AE4B2-429C-5C64-0891-97E68F609B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E2E6F1-5CAE-D4E0-0E59-9124D89ED2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6E15C0-6DF2-4DFC-B5B1-7F4FF10F1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294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9103DBC-923C-315F-9727-7459600F4AF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8E7674-C773-814E-84A1-DAFDBBA85235}"/>
              </a:ext>
            </a:extLst>
          </p:cNvPr>
          <p:cNvSpPr txBox="1"/>
          <p:nvPr/>
        </p:nvSpPr>
        <p:spPr>
          <a:xfrm>
            <a:off x="0" y="292100"/>
            <a:ext cx="121920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050" b="1">
                <a:solidFill>
                  <a:srgbClr val="267BB5"/>
                </a:solidFill>
                <a:latin typeface="Aptos Display" panose="020B0004020202020204" pitchFamily="34" charset="0"/>
              </a:rPr>
              <a:t>SOE DATA ASSURANCE  /  MOIP EXECUTIVE BRIEF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3796E8-5F5E-1BB0-508C-B01DE56FD22B}"/>
              </a:ext>
            </a:extLst>
          </p:cNvPr>
          <p:cNvSpPr txBox="1"/>
          <p:nvPr/>
        </p:nvSpPr>
        <p:spPr>
          <a:xfrm>
            <a:off x="698500" y="546099"/>
            <a:ext cx="107950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2900" b="1">
                <a:solidFill>
                  <a:srgbClr val="112337"/>
                </a:solidFill>
                <a:latin typeface="Aptos Display" panose="020B0004020202020204" pitchFamily="34" charset="0"/>
              </a:rPr>
              <a:t>Data Authenticity: What We Can and Cannot Prove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5D8E55-B8EC-61A1-9C0C-5567D807E9BB}"/>
              </a:ext>
            </a:extLst>
          </p:cNvPr>
          <p:cNvSpPr txBox="1"/>
          <p:nvPr/>
        </p:nvSpPr>
        <p:spPr>
          <a:xfrm>
            <a:off x="1206500" y="1117600"/>
            <a:ext cx="9779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250">
                <a:solidFill>
                  <a:srgbClr val="5E7185"/>
                </a:solidFill>
                <a:latin typeface="Aptos Display" panose="020B0004020202020204" pitchFamily="34" charset="0"/>
              </a:rPr>
              <a:t>The platform authenticates the submission chain. Independent checks verify the underlying facts.</a:t>
            </a:r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4FFC520D-38AF-6F5C-7501-839B932C0D39}"/>
              </a:ext>
            </a:extLst>
          </p:cNvPr>
          <p:cNvSpPr/>
          <p:nvPr/>
        </p:nvSpPr>
        <p:spPr>
          <a:xfrm>
            <a:off x="482600" y="1600200"/>
            <a:ext cx="5588000" cy="4826000"/>
          </a:xfrm>
          <a:prstGeom prst="hexagon">
            <a:avLst/>
          </a:prstGeom>
          <a:solidFill>
            <a:srgbClr val="344EC7"/>
          </a:solidFill>
          <a:ln w="12700" cap="flat" cmpd="sng" algn="ctr">
            <a:noFill/>
            <a:prstDash val="solid"/>
            <a:miter lim="800000"/>
          </a:ln>
          <a:effectLst>
            <a:outerShdw blurRad="127000" dist="68775" dir="4044790" rotWithShape="0">
              <a:scrgbClr r="0" g="0" b="0">
                <a:alpha val="22000"/>
              </a:scrgbClr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EEC403FF-3194-70D6-0416-8C15601D8A8D}"/>
              </a:ext>
            </a:extLst>
          </p:cNvPr>
          <p:cNvSpPr/>
          <p:nvPr/>
        </p:nvSpPr>
        <p:spPr>
          <a:xfrm>
            <a:off x="6121400" y="1600200"/>
            <a:ext cx="5588000" cy="4826000"/>
          </a:xfrm>
          <a:prstGeom prst="hexagon">
            <a:avLst/>
          </a:prstGeom>
          <a:solidFill>
            <a:srgbClr val="3494D1"/>
          </a:solidFill>
          <a:ln w="12700" cap="flat" cmpd="sng" algn="ctr">
            <a:noFill/>
            <a:prstDash val="solid"/>
            <a:miter lim="800000"/>
          </a:ln>
          <a:effectLst>
            <a:outerShdw blurRad="127000" dist="68775" dir="4044790" rotWithShape="0">
              <a:scrgbClr r="0" g="0" b="0">
                <a:alpha val="22000"/>
              </a:scrgbClr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11AE625-65D7-46AB-BE56-8A98A8654B74}"/>
              </a:ext>
            </a:extLst>
          </p:cNvPr>
          <p:cNvSpPr/>
          <p:nvPr/>
        </p:nvSpPr>
        <p:spPr>
          <a:xfrm>
            <a:off x="1308100" y="1917700"/>
            <a:ext cx="2984500" cy="5207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8A09BC-5F7D-70D1-2864-8AD03051886E}"/>
              </a:ext>
            </a:extLst>
          </p:cNvPr>
          <p:cNvSpPr txBox="1"/>
          <p:nvPr/>
        </p:nvSpPr>
        <p:spPr>
          <a:xfrm>
            <a:off x="1549400" y="2044700"/>
            <a:ext cx="25146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350" b="1">
                <a:solidFill>
                  <a:srgbClr val="273BA6"/>
                </a:solidFill>
                <a:latin typeface="Aptos Display" panose="020B0004020202020204" pitchFamily="34" charset="0"/>
              </a:rPr>
              <a:t>CAN AUTHENTICATE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BA2B27C-067B-0E99-1E04-B9693B1E9438}"/>
              </a:ext>
            </a:extLst>
          </p:cNvPr>
          <p:cNvSpPr/>
          <p:nvPr/>
        </p:nvSpPr>
        <p:spPr>
          <a:xfrm>
            <a:off x="7899400" y="1917700"/>
            <a:ext cx="2984500" cy="5207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989E63-E1D0-E4A7-218C-0D84D4DCDA52}"/>
              </a:ext>
            </a:extLst>
          </p:cNvPr>
          <p:cNvSpPr txBox="1"/>
          <p:nvPr/>
        </p:nvSpPr>
        <p:spPr>
          <a:xfrm>
            <a:off x="8140700" y="2044700"/>
            <a:ext cx="25146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350" b="1">
                <a:solidFill>
                  <a:srgbClr val="267BB5"/>
                </a:solidFill>
                <a:latin typeface="Aptos Display" panose="020B0004020202020204" pitchFamily="34" charset="0"/>
              </a:rPr>
              <a:t>CANNOT PROVE ALONE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47DFFA3-E62A-2C9F-8B8B-BE380832CDCF}"/>
              </a:ext>
            </a:extLst>
          </p:cNvPr>
          <p:cNvSpPr/>
          <p:nvPr/>
        </p:nvSpPr>
        <p:spPr>
          <a:xfrm>
            <a:off x="1460500" y="2819400"/>
            <a:ext cx="508000" cy="5080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7FC31A-5DB4-6D88-DCF1-DA8013034E2A}"/>
              </a:ext>
            </a:extLst>
          </p:cNvPr>
          <p:cNvSpPr txBox="1"/>
          <p:nvPr/>
        </p:nvSpPr>
        <p:spPr>
          <a:xfrm>
            <a:off x="1460500" y="2984500"/>
            <a:ext cx="508000" cy="165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850" b="1">
                <a:solidFill>
                  <a:srgbClr val="273BA6"/>
                </a:solidFill>
                <a:latin typeface="Aptos Display" panose="020B0004020202020204" pitchFamily="34" charset="0"/>
              </a:rPr>
              <a:t>ID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7AB1DB-3DF3-4BC0-EC9F-C6B864AB4365}"/>
              </a:ext>
            </a:extLst>
          </p:cNvPr>
          <p:cNvSpPr txBox="1"/>
          <p:nvPr/>
        </p:nvSpPr>
        <p:spPr>
          <a:xfrm>
            <a:off x="2171700" y="2832100"/>
            <a:ext cx="23876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50" b="1">
                <a:solidFill>
                  <a:srgbClr val="FFFFFF"/>
                </a:solidFill>
                <a:latin typeface="Aptos Display" panose="020B0004020202020204" pitchFamily="34" charset="0"/>
              </a:rPr>
              <a:t>Authorized source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DE7579-0C39-9D63-4A46-E3EF8D7BF936}"/>
              </a:ext>
            </a:extLst>
          </p:cNvPr>
          <p:cNvSpPr txBox="1"/>
          <p:nvPr/>
        </p:nvSpPr>
        <p:spPr>
          <a:xfrm>
            <a:off x="2171700" y="3098799"/>
            <a:ext cx="23876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>
                <a:solidFill>
                  <a:srgbClr val="E0EAFF"/>
                </a:solidFill>
                <a:latin typeface="Aptos Display" panose="020B0004020202020204" pitchFamily="34" charset="0"/>
              </a:rPr>
              <a:t>Named SOE user, MFA/SSO and approved role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BC8DAD-AA30-D6E7-4B44-10BBA3B83C18}"/>
              </a:ext>
            </a:extLst>
          </p:cNvPr>
          <p:cNvSpPr txBox="1"/>
          <p:nvPr/>
        </p:nvSpPr>
        <p:spPr>
          <a:xfrm>
            <a:off x="7747000" y="2832100"/>
            <a:ext cx="22352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350" b="1">
                <a:solidFill>
                  <a:srgbClr val="FFFFFF"/>
                </a:solidFill>
                <a:latin typeface="Aptos Display" panose="020B0004020202020204" pitchFamily="34" charset="0"/>
              </a:rPr>
              <a:t>Factual accuracy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0DAC1E-94D0-9151-1C9B-22BBA91C63ED}"/>
              </a:ext>
            </a:extLst>
          </p:cNvPr>
          <p:cNvSpPr txBox="1"/>
          <p:nvPr/>
        </p:nvSpPr>
        <p:spPr>
          <a:xfrm>
            <a:off x="7658100" y="3098799"/>
            <a:ext cx="23241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050">
                <a:solidFill>
                  <a:srgbClr val="E7F6FF"/>
                </a:solidFill>
                <a:latin typeface="Aptos Display" panose="020B0004020202020204" pitchFamily="34" charset="0"/>
              </a:rPr>
              <a:t>Whether figures reflect actual operations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8488611-346B-92EF-C50F-AE8651E47E17}"/>
              </a:ext>
            </a:extLst>
          </p:cNvPr>
          <p:cNvSpPr/>
          <p:nvPr/>
        </p:nvSpPr>
        <p:spPr>
          <a:xfrm>
            <a:off x="10185400" y="2819400"/>
            <a:ext cx="508000" cy="5080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DF45819-E2C2-6865-920F-4B0848879E75}"/>
              </a:ext>
            </a:extLst>
          </p:cNvPr>
          <p:cNvSpPr txBox="1"/>
          <p:nvPr/>
        </p:nvSpPr>
        <p:spPr>
          <a:xfrm>
            <a:off x="10185400" y="2984500"/>
            <a:ext cx="508000" cy="165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850" b="1">
                <a:solidFill>
                  <a:srgbClr val="267BB5"/>
                </a:solidFill>
                <a:latin typeface="Aptos Display" panose="020B0004020202020204" pitchFamily="34" charset="0"/>
              </a:rPr>
              <a:t>FACT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B31DE78-CD32-D719-24CE-A99EB280790F}"/>
              </a:ext>
            </a:extLst>
          </p:cNvPr>
          <p:cNvSpPr/>
          <p:nvPr/>
        </p:nvSpPr>
        <p:spPr>
          <a:xfrm>
            <a:off x="1460500" y="3695700"/>
            <a:ext cx="508000" cy="5080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EE11EE2-C2BA-285A-DFB6-61FBFA269456}"/>
              </a:ext>
            </a:extLst>
          </p:cNvPr>
          <p:cNvSpPr txBox="1"/>
          <p:nvPr/>
        </p:nvSpPr>
        <p:spPr>
          <a:xfrm>
            <a:off x="1460500" y="3860800"/>
            <a:ext cx="508000" cy="165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850" b="1">
                <a:solidFill>
                  <a:srgbClr val="273BA6"/>
                </a:solidFill>
                <a:latin typeface="Aptos Display" panose="020B0004020202020204" pitchFamily="34" charset="0"/>
              </a:rPr>
              <a:t>LOG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4DF72E-DAA3-5490-2DA5-27D9C5A9122D}"/>
              </a:ext>
            </a:extLst>
          </p:cNvPr>
          <p:cNvSpPr txBox="1"/>
          <p:nvPr/>
        </p:nvSpPr>
        <p:spPr>
          <a:xfrm>
            <a:off x="2171700" y="3708400"/>
            <a:ext cx="23876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50" b="1">
                <a:solidFill>
                  <a:srgbClr val="FFFFFF"/>
                </a:solidFill>
                <a:latin typeface="Aptos Display" panose="020B0004020202020204" pitchFamily="34" charset="0"/>
              </a:rPr>
              <a:t>Submission provenance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2D07A3D-F77C-3F3D-B757-38D0C7298B3B}"/>
              </a:ext>
            </a:extLst>
          </p:cNvPr>
          <p:cNvSpPr txBox="1"/>
          <p:nvPr/>
        </p:nvSpPr>
        <p:spPr>
          <a:xfrm>
            <a:off x="2171700" y="3975099"/>
            <a:ext cx="23876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>
                <a:solidFill>
                  <a:srgbClr val="E0EAFF"/>
                </a:solidFill>
                <a:latin typeface="Aptos Display" panose="020B0004020202020204" pitchFamily="34" charset="0"/>
              </a:rPr>
              <a:t>Who submitted, when, and from which session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E39F140-B4A3-7E32-4DF6-AFB93C19140A}"/>
              </a:ext>
            </a:extLst>
          </p:cNvPr>
          <p:cNvSpPr txBox="1"/>
          <p:nvPr/>
        </p:nvSpPr>
        <p:spPr>
          <a:xfrm>
            <a:off x="7747000" y="3708400"/>
            <a:ext cx="22352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350" b="1">
                <a:solidFill>
                  <a:srgbClr val="FFFFFF"/>
                </a:solidFill>
                <a:latin typeface="Aptos Display" panose="020B0004020202020204" pitchFamily="34" charset="0"/>
              </a:rPr>
              <a:t>Completeness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C1CBC87-F350-EAE4-E11B-EA27270CC16A}"/>
              </a:ext>
            </a:extLst>
          </p:cNvPr>
          <p:cNvSpPr txBox="1"/>
          <p:nvPr/>
        </p:nvSpPr>
        <p:spPr>
          <a:xfrm>
            <a:off x="7658100" y="3975099"/>
            <a:ext cx="23241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050">
                <a:solidFill>
                  <a:srgbClr val="E7F6FF"/>
                </a:solidFill>
                <a:latin typeface="Aptos Display" panose="020B0004020202020204" pitchFamily="34" charset="0"/>
              </a:rPr>
              <a:t>Whether assets, liabilities or events were omitted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C7E47F3-2322-9DA0-07B1-F81DCE9DAD4B}"/>
              </a:ext>
            </a:extLst>
          </p:cNvPr>
          <p:cNvSpPr/>
          <p:nvPr/>
        </p:nvSpPr>
        <p:spPr>
          <a:xfrm>
            <a:off x="10185400" y="3695700"/>
            <a:ext cx="508000" cy="5080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33EAFC9-0043-768D-D1D8-D390B6435A40}"/>
              </a:ext>
            </a:extLst>
          </p:cNvPr>
          <p:cNvSpPr txBox="1"/>
          <p:nvPr/>
        </p:nvSpPr>
        <p:spPr>
          <a:xfrm>
            <a:off x="10185400" y="3860800"/>
            <a:ext cx="508000" cy="165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850" b="1">
                <a:solidFill>
                  <a:srgbClr val="267BB5"/>
                </a:solidFill>
                <a:latin typeface="Aptos Display" panose="020B0004020202020204" pitchFamily="34" charset="0"/>
              </a:rPr>
              <a:t>ALL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D303D5F-65AE-3CBF-B8E5-D6A21FA28C32}"/>
              </a:ext>
            </a:extLst>
          </p:cNvPr>
          <p:cNvSpPr/>
          <p:nvPr/>
        </p:nvSpPr>
        <p:spPr>
          <a:xfrm>
            <a:off x="1460500" y="4572000"/>
            <a:ext cx="508000" cy="5080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2535020-481B-6A05-9DC8-D86112EAFA8A}"/>
              </a:ext>
            </a:extLst>
          </p:cNvPr>
          <p:cNvSpPr txBox="1"/>
          <p:nvPr/>
        </p:nvSpPr>
        <p:spPr>
          <a:xfrm>
            <a:off x="1460500" y="4737100"/>
            <a:ext cx="508000" cy="165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850" b="1">
                <a:solidFill>
                  <a:srgbClr val="273BA6"/>
                </a:solidFill>
                <a:latin typeface="Aptos Display" panose="020B0004020202020204" pitchFamily="34" charset="0"/>
              </a:rPr>
              <a:t>HASH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6675443-E8F9-FDE7-6611-4C6EE632F79F}"/>
              </a:ext>
            </a:extLst>
          </p:cNvPr>
          <p:cNvSpPr txBox="1"/>
          <p:nvPr/>
        </p:nvSpPr>
        <p:spPr>
          <a:xfrm>
            <a:off x="2171700" y="4584700"/>
            <a:ext cx="23876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50" b="1">
                <a:solidFill>
                  <a:srgbClr val="FFFFFF"/>
                </a:solidFill>
                <a:latin typeface="Aptos Display" panose="020B0004020202020204" pitchFamily="34" charset="0"/>
              </a:rPr>
              <a:t>Record integrity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38AB38-9F08-2874-B0CA-2DCE943BAF64}"/>
              </a:ext>
            </a:extLst>
          </p:cNvPr>
          <p:cNvSpPr txBox="1"/>
          <p:nvPr/>
        </p:nvSpPr>
        <p:spPr>
          <a:xfrm>
            <a:off x="2171700" y="4851399"/>
            <a:ext cx="23876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>
                <a:solidFill>
                  <a:srgbClr val="E0EAFF"/>
                </a:solidFill>
                <a:latin typeface="Aptos Display" panose="020B0004020202020204" pitchFamily="34" charset="0"/>
              </a:rPr>
              <a:t>Versions, document hashes and audit history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B986D46-5088-9DDC-D0C4-B05E242E35A2}"/>
              </a:ext>
            </a:extLst>
          </p:cNvPr>
          <p:cNvSpPr txBox="1"/>
          <p:nvPr/>
        </p:nvSpPr>
        <p:spPr>
          <a:xfrm>
            <a:off x="7747000" y="4584700"/>
            <a:ext cx="22352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350" b="1">
                <a:solidFill>
                  <a:srgbClr val="FFFFFF"/>
                </a:solidFill>
                <a:latin typeface="Aptos Display" panose="020B0004020202020204" pitchFamily="34" charset="0"/>
              </a:rPr>
              <a:t>Evidence genuineness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A34A111-7C99-1431-8E62-425C6CECAF71}"/>
              </a:ext>
            </a:extLst>
          </p:cNvPr>
          <p:cNvSpPr txBox="1"/>
          <p:nvPr/>
        </p:nvSpPr>
        <p:spPr>
          <a:xfrm>
            <a:off x="7658100" y="4851399"/>
            <a:ext cx="23241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050">
                <a:solidFill>
                  <a:srgbClr val="E7F6FF"/>
                </a:solidFill>
                <a:latin typeface="Aptos Display" panose="020B0004020202020204" pitchFamily="34" charset="0"/>
              </a:rPr>
              <a:t>Whether uploaded evidence is authentic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B5B34B8-89B1-FC9C-8DC6-B433330ACB4B}"/>
              </a:ext>
            </a:extLst>
          </p:cNvPr>
          <p:cNvSpPr/>
          <p:nvPr/>
        </p:nvSpPr>
        <p:spPr>
          <a:xfrm>
            <a:off x="10185400" y="4572000"/>
            <a:ext cx="508000" cy="5080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86EBAEC-6386-DB8D-D797-FCA3DE0DE75D}"/>
              </a:ext>
            </a:extLst>
          </p:cNvPr>
          <p:cNvSpPr txBox="1"/>
          <p:nvPr/>
        </p:nvSpPr>
        <p:spPr>
          <a:xfrm>
            <a:off x="10185400" y="4737100"/>
            <a:ext cx="508000" cy="165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850" b="1">
                <a:solidFill>
                  <a:srgbClr val="267BB5"/>
                </a:solidFill>
                <a:latin typeface="Aptos Display" panose="020B0004020202020204" pitchFamily="34" charset="0"/>
              </a:rPr>
              <a:t>DOC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3CEDF679-AB8C-5D43-B970-DAD52C516208}"/>
              </a:ext>
            </a:extLst>
          </p:cNvPr>
          <p:cNvSpPr/>
          <p:nvPr/>
        </p:nvSpPr>
        <p:spPr>
          <a:xfrm>
            <a:off x="1460500" y="5448300"/>
            <a:ext cx="508000" cy="5080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CC81718-BA7D-F857-38A5-F75553FC8DFD}"/>
              </a:ext>
            </a:extLst>
          </p:cNvPr>
          <p:cNvSpPr txBox="1"/>
          <p:nvPr/>
        </p:nvSpPr>
        <p:spPr>
          <a:xfrm>
            <a:off x="1460500" y="5613400"/>
            <a:ext cx="508000" cy="165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850" b="1">
                <a:solidFill>
                  <a:srgbClr val="273BA6"/>
                </a:solidFill>
                <a:latin typeface="Aptos Display" panose="020B0004020202020204" pitchFamily="34" charset="0"/>
              </a:rPr>
              <a:t>OK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E63F590-7E57-3B6E-16DA-CF2C523B7742}"/>
              </a:ext>
            </a:extLst>
          </p:cNvPr>
          <p:cNvSpPr txBox="1"/>
          <p:nvPr/>
        </p:nvSpPr>
        <p:spPr>
          <a:xfrm>
            <a:off x="2171700" y="5461000"/>
            <a:ext cx="23876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50" b="1">
                <a:solidFill>
                  <a:srgbClr val="FFFFFF"/>
                </a:solidFill>
                <a:latin typeface="Aptos Display" panose="020B0004020202020204" pitchFamily="34" charset="0"/>
              </a:rPr>
              <a:t>Internal accountability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131BDFF-4A48-F09F-C4D1-1F96313B9FD7}"/>
              </a:ext>
            </a:extLst>
          </p:cNvPr>
          <p:cNvSpPr txBox="1"/>
          <p:nvPr/>
        </p:nvSpPr>
        <p:spPr>
          <a:xfrm>
            <a:off x="2171700" y="5727699"/>
            <a:ext cx="23876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>
                <a:solidFill>
                  <a:srgbClr val="E0EAFF"/>
                </a:solidFill>
                <a:latin typeface="Aptos Display" panose="020B0004020202020204" pitchFamily="34" charset="0"/>
              </a:rPr>
              <a:t>Maker-checker approval and digital attestation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220B4F5-4801-F74E-530B-A73BEAB811A5}"/>
              </a:ext>
            </a:extLst>
          </p:cNvPr>
          <p:cNvSpPr txBox="1"/>
          <p:nvPr/>
        </p:nvSpPr>
        <p:spPr>
          <a:xfrm>
            <a:off x="7747000" y="5461000"/>
            <a:ext cx="22352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350" b="1">
                <a:solidFill>
                  <a:srgbClr val="FFFFFF"/>
                </a:solidFill>
                <a:latin typeface="Aptos Display" panose="020B0004020202020204" pitchFamily="34" charset="0"/>
              </a:rPr>
              <a:t>Human or offline misuse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671E671-F58F-B24B-BDE8-F602A32E5EDF}"/>
              </a:ext>
            </a:extLst>
          </p:cNvPr>
          <p:cNvSpPr txBox="1"/>
          <p:nvPr/>
        </p:nvSpPr>
        <p:spPr>
          <a:xfrm>
            <a:off x="7658100" y="5727699"/>
            <a:ext cx="23241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050">
                <a:solidFill>
                  <a:srgbClr val="E7F6FF"/>
                </a:solidFill>
                <a:latin typeface="Aptos Display" panose="020B0004020202020204" pitchFamily="34" charset="0"/>
              </a:rPr>
              <a:t>Sharing, coercion, collusion or backdating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54E499B-3EE7-87D4-D111-54DF7A4E56B8}"/>
              </a:ext>
            </a:extLst>
          </p:cNvPr>
          <p:cNvSpPr/>
          <p:nvPr/>
        </p:nvSpPr>
        <p:spPr>
          <a:xfrm>
            <a:off x="10185400" y="5448300"/>
            <a:ext cx="508000" cy="5080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FB3E46F-9467-6447-3000-62E8B9AEC477}"/>
              </a:ext>
            </a:extLst>
          </p:cNvPr>
          <p:cNvSpPr txBox="1"/>
          <p:nvPr/>
        </p:nvSpPr>
        <p:spPr>
          <a:xfrm>
            <a:off x="10185400" y="5613400"/>
            <a:ext cx="508000" cy="165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850" b="1">
                <a:solidFill>
                  <a:srgbClr val="267BB5"/>
                </a:solidFill>
                <a:latin typeface="Aptos Display" panose="020B0004020202020204" pitchFamily="34" charset="0"/>
              </a:rPr>
              <a:t>USER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22478495-EE8E-6B01-4F34-EEE616C1548B}"/>
              </a:ext>
            </a:extLst>
          </p:cNvPr>
          <p:cNvSpPr/>
          <p:nvPr/>
        </p:nvSpPr>
        <p:spPr>
          <a:xfrm>
            <a:off x="4635500" y="2768600"/>
            <a:ext cx="2921000" cy="2921000"/>
          </a:xfrm>
          <a:prstGeom prst="ellipse">
            <a:avLst/>
          </a:prstGeom>
          <a:solidFill>
            <a:srgbClr val="F6F7F9"/>
          </a:solidFill>
          <a:ln w="15240">
            <a:solidFill>
              <a:srgbClr val="FFFFFF"/>
            </a:solidFill>
          </a:ln>
          <a:effectLst>
            <a:outerShdw blurRad="203200" dist="92741" dir="4407085" rotWithShape="0">
              <a:scrgbClr r="0" g="0" b="0">
                <a:alpha val="28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8669D69-1DDD-8956-148F-F9F19DA1EB4C}"/>
              </a:ext>
            </a:extLst>
          </p:cNvPr>
          <p:cNvSpPr/>
          <p:nvPr/>
        </p:nvSpPr>
        <p:spPr>
          <a:xfrm>
            <a:off x="5486400" y="2717800"/>
            <a:ext cx="152400" cy="685800"/>
          </a:xfrm>
          <a:prstGeom prst="rect">
            <a:avLst/>
          </a:prstGeom>
          <a:solidFill>
            <a:srgbClr val="344EC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04A526F-7252-5D85-A723-3AADE1C8F32B}"/>
              </a:ext>
            </a:extLst>
          </p:cNvPr>
          <p:cNvSpPr/>
          <p:nvPr/>
        </p:nvSpPr>
        <p:spPr>
          <a:xfrm>
            <a:off x="6553200" y="2717800"/>
            <a:ext cx="152400" cy="685800"/>
          </a:xfrm>
          <a:prstGeom prst="rect">
            <a:avLst/>
          </a:prstGeom>
          <a:solidFill>
            <a:srgbClr val="3494D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4A980CC-EA52-C60E-0A13-1FEC743073EB}"/>
              </a:ext>
            </a:extLst>
          </p:cNvPr>
          <p:cNvSpPr/>
          <p:nvPr/>
        </p:nvSpPr>
        <p:spPr>
          <a:xfrm>
            <a:off x="4533900" y="4140200"/>
            <a:ext cx="685800" cy="152400"/>
          </a:xfrm>
          <a:prstGeom prst="rect">
            <a:avLst/>
          </a:prstGeom>
          <a:solidFill>
            <a:srgbClr val="344EC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6463A41-2954-70AE-00BB-16B210C89323}"/>
              </a:ext>
            </a:extLst>
          </p:cNvPr>
          <p:cNvSpPr/>
          <p:nvPr/>
        </p:nvSpPr>
        <p:spPr>
          <a:xfrm>
            <a:off x="6972300" y="4140200"/>
            <a:ext cx="685800" cy="152400"/>
          </a:xfrm>
          <a:prstGeom prst="rect">
            <a:avLst/>
          </a:prstGeom>
          <a:solidFill>
            <a:srgbClr val="3494D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764C7F3-7BCF-0645-A3E7-359654B87532}"/>
              </a:ext>
            </a:extLst>
          </p:cNvPr>
          <p:cNvSpPr/>
          <p:nvPr/>
        </p:nvSpPr>
        <p:spPr>
          <a:xfrm rot="-2700000">
            <a:off x="4902200" y="3200400"/>
            <a:ext cx="152400" cy="635000"/>
          </a:xfrm>
          <a:prstGeom prst="rect">
            <a:avLst/>
          </a:prstGeom>
          <a:solidFill>
            <a:srgbClr val="344EC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F6CB1CA-80EF-9DC8-C09F-C82BCD70F3DC}"/>
              </a:ext>
            </a:extLst>
          </p:cNvPr>
          <p:cNvSpPr/>
          <p:nvPr/>
        </p:nvSpPr>
        <p:spPr>
          <a:xfrm rot="2700000">
            <a:off x="7137400" y="3200400"/>
            <a:ext cx="152400" cy="635000"/>
          </a:xfrm>
          <a:prstGeom prst="rect">
            <a:avLst/>
          </a:prstGeom>
          <a:solidFill>
            <a:srgbClr val="3494D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EEC488B-BB31-319F-80F9-C8DDD88DB28F}"/>
              </a:ext>
            </a:extLst>
          </p:cNvPr>
          <p:cNvSpPr/>
          <p:nvPr/>
        </p:nvSpPr>
        <p:spPr>
          <a:xfrm rot="2700000">
            <a:off x="4902200" y="4635500"/>
            <a:ext cx="152400" cy="635000"/>
          </a:xfrm>
          <a:prstGeom prst="rect">
            <a:avLst/>
          </a:prstGeom>
          <a:solidFill>
            <a:srgbClr val="344EC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4CDCD15-3250-A8AB-81AC-9620C2EE41E9}"/>
              </a:ext>
            </a:extLst>
          </p:cNvPr>
          <p:cNvSpPr/>
          <p:nvPr/>
        </p:nvSpPr>
        <p:spPr>
          <a:xfrm rot="-2700000">
            <a:off x="7137400" y="4635500"/>
            <a:ext cx="152400" cy="635000"/>
          </a:xfrm>
          <a:prstGeom prst="rect">
            <a:avLst/>
          </a:prstGeom>
          <a:solidFill>
            <a:srgbClr val="3494D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093B0BEC-FDC8-30A7-7C30-8BA60E8401F4}"/>
              </a:ext>
            </a:extLst>
          </p:cNvPr>
          <p:cNvSpPr/>
          <p:nvPr/>
        </p:nvSpPr>
        <p:spPr>
          <a:xfrm>
            <a:off x="5168900" y="3302000"/>
            <a:ext cx="1854200" cy="18542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152400" dist="68775" dir="4044790" rotWithShape="0">
              <a:scrgbClr r="0" g="0" b="0">
                <a:alpha val="18000"/>
              </a:scrgbClr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7EAFFB1-74F2-1617-9F40-4BDB0968AEBD}"/>
              </a:ext>
            </a:extLst>
          </p:cNvPr>
          <p:cNvSpPr txBox="1"/>
          <p:nvPr/>
        </p:nvSpPr>
        <p:spPr>
          <a:xfrm>
            <a:off x="5168900" y="4038599"/>
            <a:ext cx="18542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2200" b="1">
                <a:solidFill>
                  <a:srgbClr val="112337"/>
                </a:solidFill>
                <a:latin typeface="Aptos Display" panose="020B0004020202020204" pitchFamily="34" charset="0"/>
              </a:rPr>
              <a:t>VS</a:t>
            </a:r>
          </a:p>
        </p:txBody>
      </p:sp>
    </p:spTree>
    <p:extLst>
      <p:ext uri="{BB962C8B-B14F-4D97-AF65-F5344CB8AC3E}">
        <p14:creationId xmlns:p14="http://schemas.microsoft.com/office/powerpoint/2010/main" val="25076786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</Words>
  <Application>Microsoft Office PowerPoint</Application>
  <PresentationFormat>Custom</PresentationFormat>
  <Paragraphs>30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 Display</vt:lpstr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Office</cp:lastModifiedBy>
  <cp:revision>1</cp:revision>
  <dcterms:created xsi:type="dcterms:W3CDTF">2026-08-24T07:40:39Z</dcterms:created>
  <dcterms:modified xsi:type="dcterms:W3CDTF">2026-08-24T07:40:39Z</dcterms:modified>
</cp:coreProperties>
</file>