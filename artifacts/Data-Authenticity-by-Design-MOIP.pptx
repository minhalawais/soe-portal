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E6F2E-B9C9-D9FD-A7A6-815E78F0A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64242-11A6-7CFD-5A60-6A4122834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1CDC9-AED1-86F0-59A7-08000659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E91FF-56BA-C91D-A41E-7B580EAB3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06BFB-238F-4376-C379-33551135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1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51DC-955F-879C-EC85-99A521AFC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4FF63-916A-1242-9332-AC3EB27B7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3D54B-E77E-9A8E-B41B-1A3B3295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606B8-9F7A-4F66-4038-C2619F42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BAE67-EC10-641C-54E8-1E83950F7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4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F920-55BF-ECDD-029F-47B34D37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DF81-37F4-FD78-EC8D-F5118615D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D3A6E-4CBA-AD28-74A0-60DD4CB1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9E244-BDAD-5F12-BCFB-6AC94873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2F2B9-ACAD-277A-1052-9AE7EB05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60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4384-A589-8466-E16B-35787B38F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A217E-1870-9C31-B2B8-ED95FEDA2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64D8E-9975-DCAD-A207-1F434D657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2E135-7130-113D-234F-495EBBA57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F8749-B8D1-C175-7C4C-7EC69AC1E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A89D7-728E-68FE-4D2C-38912B7E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1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14F9F-F07F-3C83-322F-5A1B3050A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0CFFE-0A09-C09D-0F26-B227EF0CA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7F863-076A-12F6-6FC6-99087C597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7A89B-1105-D90C-01D9-CFF8D7D6E2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C8805-DC59-ED84-4873-4CEC1E970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EF622-F315-4793-6C2F-30E04F42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309BA0-AA34-C7DC-CDB8-694D79E6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972AE6-B783-B484-F1B7-AC5E22C9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06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AE09-3B1B-0DB3-5FCC-54B91D73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86A1D-8AB7-F1DD-E4F4-867D60F08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7DEAC-DAB8-F05F-F423-81C37A15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B74C6-F745-C5FE-70D0-C6DD9499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0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FEA4B-6F6A-A345-BA64-090B13C32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C5C29-2B80-9A92-0052-BCF9F14C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BE420-FB80-317E-3857-F4F98ECD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63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DDD8-B382-C7E2-8149-7CF80667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0CD51-1F60-4994-9C3A-A11F131D9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B41BB-5B71-8469-9B29-B86C6D72B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B69C9-12C0-CBD2-74E2-130677727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45E05-7C4F-573C-26B8-52872EB4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74482-2277-3C3B-2871-2B5B6543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94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D380-D1A2-7ECE-47A6-1AAF246A4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1F5ED6-3782-7FD3-F4AB-D5D81998B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CFBF5-A21C-CFA9-0B41-FCA27ABEA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C3C65-AD27-EE66-7CD5-7480D229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EF1F1-3126-0163-0120-4E9844B4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D9FF0-2105-AE6A-2EBC-116F0CD8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1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AFB7-5D92-B518-03A7-BDAC300F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3B34A-DDC7-A734-898C-2CA5B84E8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01931-5758-EEC5-29A8-9AF44F304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4C999-53C1-317A-63A3-3AE420533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56144-AACF-497B-1C9C-1FDB86F3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37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544006-5355-EDCA-A7B1-6D009035F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6A778-3750-0EEC-CA85-993FB27FD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5A905-F3F1-EF2F-BC97-C7238A8FD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55FE2-291D-1DE9-ECB8-DE8157BB7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680C1-2E87-2EAD-DB93-59596F0A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5F567-9791-788E-D5C6-21094A0E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979A7-7CEF-AA61-F3C2-790FD42DD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A8562-1A74-E2BD-CC81-7D38E2C707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30966-721C-455A-A2DD-A5E4DA7724F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8FD26-AB6D-AF3E-5957-5589EBDA3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2B8C2-FADC-D354-F3F6-14AC21DF6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21429-8B16-4982-980D-66262FC54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26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5ACCB0-3A16-599F-EBDD-0DA33CEA06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8A192-943F-7828-FC8A-C76F0E5CDC57}"/>
              </a:ext>
            </a:extLst>
          </p:cNvPr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0B2B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FBCA80-B394-2C8C-9B40-1232459A3AA3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484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F2188-DC09-1C2C-28BD-712D647FF6DA}"/>
              </a:ext>
            </a:extLst>
          </p:cNvPr>
          <p:cNvSpPr txBox="1"/>
          <p:nvPr/>
        </p:nvSpPr>
        <p:spPr>
          <a:xfrm>
            <a:off x="406400" y="2286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8DE0D5"/>
                </a:solidFill>
                <a:latin typeface="Aptos" panose="020B0004020202020204" pitchFamily="34" charset="0"/>
              </a:rPr>
              <a:t>PROPOSED ASSURANCE MODEL FOR SOE REPORTING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899A6-82BF-D39A-0190-F3F897E17C72}"/>
              </a:ext>
            </a:extLst>
          </p:cNvPr>
          <p:cNvSpPr txBox="1"/>
          <p:nvPr/>
        </p:nvSpPr>
        <p:spPr>
          <a:xfrm>
            <a:off x="406400" y="4191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ptos" panose="020B0004020202020204" pitchFamily="34" charset="0"/>
              </a:rPr>
              <a:t>Data Authenticity by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42044E-3D88-56DA-B1C8-EF39A46BD812}"/>
              </a:ext>
            </a:extLst>
          </p:cNvPr>
          <p:cNvSpPr txBox="1"/>
          <p:nvPr/>
        </p:nvSpPr>
        <p:spPr>
          <a:xfrm>
            <a:off x="419100" y="8763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CBD8E5"/>
                </a:solidFill>
                <a:latin typeface="Aptos" panose="020B0004020202020204" pitchFamily="34" charset="0"/>
              </a:rPr>
              <a:t>What the platform can prove, and what still requires independent verification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CB2653-2CB6-DDBF-7FEF-2557FF7C0167}"/>
              </a:ext>
            </a:extLst>
          </p:cNvPr>
          <p:cNvSpPr/>
          <p:nvPr/>
        </p:nvSpPr>
        <p:spPr>
          <a:xfrm>
            <a:off x="10604500" y="228600"/>
            <a:ext cx="1168400" cy="647700"/>
          </a:xfrm>
          <a:prstGeom prst="rect">
            <a:avLst/>
          </a:prstGeom>
          <a:solidFill>
            <a:srgbClr val="123856"/>
          </a:solidFill>
          <a:ln w="9525">
            <a:solidFill>
              <a:srgbClr val="4B6F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6EF56-878B-05F4-2B08-EB811149812B}"/>
              </a:ext>
            </a:extLst>
          </p:cNvPr>
          <p:cNvSpPr txBox="1"/>
          <p:nvPr/>
        </p:nvSpPr>
        <p:spPr>
          <a:xfrm>
            <a:off x="10744200" y="355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 b="1">
                <a:solidFill>
                  <a:srgbClr val="E8F4FF"/>
                </a:solidFill>
                <a:latin typeface="Aptos" panose="020B0004020202020204" pitchFamily="34" charset="0"/>
              </a:rPr>
              <a:t>MOIP
EXECUTIVE BRIEF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8A459C-A27F-C95A-BC40-D815224A66CF}"/>
              </a:ext>
            </a:extLst>
          </p:cNvPr>
          <p:cNvSpPr/>
          <p:nvPr/>
        </p:nvSpPr>
        <p:spPr>
          <a:xfrm>
            <a:off x="381000" y="1320800"/>
            <a:ext cx="5588000" cy="292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74E66F-9DFD-0AD0-46F6-D9D19C731F7A}"/>
              </a:ext>
            </a:extLst>
          </p:cNvPr>
          <p:cNvSpPr/>
          <p:nvPr/>
        </p:nvSpPr>
        <p:spPr>
          <a:xfrm>
            <a:off x="381000" y="1320800"/>
            <a:ext cx="5588000" cy="50800"/>
          </a:xfrm>
          <a:prstGeom prst="rect">
            <a:avLst/>
          </a:prstGeom>
          <a:solidFill>
            <a:srgbClr val="1484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1D954E-3E8F-88DA-8F09-EBB381D359D5}"/>
              </a:ext>
            </a:extLst>
          </p:cNvPr>
          <p:cNvSpPr/>
          <p:nvPr/>
        </p:nvSpPr>
        <p:spPr>
          <a:xfrm>
            <a:off x="6223000" y="1320800"/>
            <a:ext cx="5588000" cy="292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8F58DD-6C91-7884-EDFE-9BD8AF30C02E}"/>
              </a:ext>
            </a:extLst>
          </p:cNvPr>
          <p:cNvSpPr/>
          <p:nvPr/>
        </p:nvSpPr>
        <p:spPr>
          <a:xfrm>
            <a:off x="6223000" y="1320800"/>
            <a:ext cx="5588000" cy="50800"/>
          </a:xfrm>
          <a:prstGeom prst="rect">
            <a:avLst/>
          </a:prstGeom>
          <a:solidFill>
            <a:srgbClr val="D889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3D92DE-84D5-9158-2C2D-636CFBC9742D}"/>
              </a:ext>
            </a:extLst>
          </p:cNvPr>
          <p:cNvSpPr/>
          <p:nvPr/>
        </p:nvSpPr>
        <p:spPr>
          <a:xfrm>
            <a:off x="584200" y="1524000"/>
            <a:ext cx="381000" cy="381000"/>
          </a:xfrm>
          <a:prstGeom prst="rect">
            <a:avLst/>
          </a:prstGeom>
          <a:solidFill>
            <a:srgbClr val="E4F5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943CB4-749D-3373-91FE-8FB28D4A34BA}"/>
              </a:ext>
            </a:extLst>
          </p:cNvPr>
          <p:cNvSpPr txBox="1"/>
          <p:nvPr/>
        </p:nvSpPr>
        <p:spPr>
          <a:xfrm>
            <a:off x="584200" y="15621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148477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D8098-7428-4474-ABEA-3BD38AD72BD5}"/>
              </a:ext>
            </a:extLst>
          </p:cNvPr>
          <p:cNvSpPr txBox="1"/>
          <p:nvPr/>
        </p:nvSpPr>
        <p:spPr>
          <a:xfrm>
            <a:off x="1117600" y="14859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0B2B47"/>
                </a:solidFill>
                <a:latin typeface="Aptos" panose="020B0004020202020204" pitchFamily="34" charset="0"/>
              </a:rPr>
              <a:t>What the platform can authenticate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B22449-FC6E-48AE-DA32-11478D9A1EBD}"/>
              </a:ext>
            </a:extLst>
          </p:cNvPr>
          <p:cNvSpPr txBox="1"/>
          <p:nvPr/>
        </p:nvSpPr>
        <p:spPr>
          <a:xfrm>
            <a:off x="1117600" y="17653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Evidence of origin, authority and handling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D6FAB7-C36C-F634-2608-4D6F578BFB27}"/>
              </a:ext>
            </a:extLst>
          </p:cNvPr>
          <p:cNvSpPr/>
          <p:nvPr/>
        </p:nvSpPr>
        <p:spPr>
          <a:xfrm>
            <a:off x="6426200" y="1524000"/>
            <a:ext cx="381000" cy="381000"/>
          </a:xfrm>
          <a:prstGeom prst="rect">
            <a:avLst/>
          </a:prstGeom>
          <a:solidFill>
            <a:srgbClr val="FFF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86E195-DFEE-823B-7ADE-7212E4F573E9}"/>
              </a:ext>
            </a:extLst>
          </p:cNvPr>
          <p:cNvSpPr txBox="1"/>
          <p:nvPr/>
        </p:nvSpPr>
        <p:spPr>
          <a:xfrm>
            <a:off x="6426200" y="1549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B86D05"/>
                </a:solidFill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7BB61C-29EE-E92E-9927-B09022E618B9}"/>
              </a:ext>
            </a:extLst>
          </p:cNvPr>
          <p:cNvSpPr txBox="1"/>
          <p:nvPr/>
        </p:nvSpPr>
        <p:spPr>
          <a:xfrm>
            <a:off x="6959600" y="14859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0B2B47"/>
                </a:solidFill>
                <a:latin typeface="Aptos" panose="020B0004020202020204" pitchFamily="34" charset="0"/>
              </a:rPr>
              <a:t>What technology cannot prove alone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01F533-694A-7284-9626-4C48366CCB78}"/>
              </a:ext>
            </a:extLst>
          </p:cNvPr>
          <p:cNvSpPr txBox="1"/>
          <p:nvPr/>
        </p:nvSpPr>
        <p:spPr>
          <a:xfrm>
            <a:off x="6959600" y="17653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Business truth still needs independent assurance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5467D5-01DD-5639-FDBD-756E6C08696A}"/>
              </a:ext>
            </a:extLst>
          </p:cNvPr>
          <p:cNvSpPr/>
          <p:nvPr/>
        </p:nvSpPr>
        <p:spPr>
          <a:xfrm>
            <a:off x="609600" y="2171700"/>
            <a:ext cx="228600" cy="228600"/>
          </a:xfrm>
          <a:prstGeom prst="ellipse">
            <a:avLst/>
          </a:prstGeom>
          <a:solidFill>
            <a:srgbClr val="D9F1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272C1A-924E-6A15-FAE5-3A0D98F68FBD}"/>
              </a:ext>
            </a:extLst>
          </p:cNvPr>
          <p:cNvSpPr txBox="1"/>
          <p:nvPr/>
        </p:nvSpPr>
        <p:spPr>
          <a:xfrm>
            <a:off x="609600" y="2197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08776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7C467C-CEC0-D761-2626-AE326C213CC4}"/>
              </a:ext>
            </a:extLst>
          </p:cNvPr>
          <p:cNvSpPr txBox="1"/>
          <p:nvPr/>
        </p:nvSpPr>
        <p:spPr>
          <a:xfrm>
            <a:off x="965200" y="21590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7324D"/>
                </a:solidFill>
                <a:latin typeface="Aptos" panose="020B0004020202020204" pitchFamily="34" charset="0"/>
              </a:rPr>
              <a:t>Authorized identity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8E68AD-BE8A-8F5D-1ED6-F837E580A5CA}"/>
              </a:ext>
            </a:extLst>
          </p:cNvPr>
          <p:cNvSpPr txBox="1"/>
          <p:nvPr/>
        </p:nvSpPr>
        <p:spPr>
          <a:xfrm>
            <a:off x="2565400" y="21717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Named SOE account + MFA/SSO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53501D3-4E70-6EC3-A945-C3E7082103DB}"/>
              </a:ext>
            </a:extLst>
          </p:cNvPr>
          <p:cNvSpPr/>
          <p:nvPr/>
        </p:nvSpPr>
        <p:spPr>
          <a:xfrm>
            <a:off x="6451600" y="2171700"/>
            <a:ext cx="228600" cy="228600"/>
          </a:xfrm>
          <a:prstGeom prst="ellipse">
            <a:avLst/>
          </a:prstGeom>
          <a:solidFill>
            <a:srgbClr val="FFEDC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69571E-2B54-C63D-894D-603682A6B16B}"/>
              </a:ext>
            </a:extLst>
          </p:cNvPr>
          <p:cNvSpPr txBox="1"/>
          <p:nvPr/>
        </p:nvSpPr>
        <p:spPr>
          <a:xfrm>
            <a:off x="6451600" y="21971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B76C0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75F25C-F05C-6599-7DC1-E39E00C7DA5B}"/>
              </a:ext>
            </a:extLst>
          </p:cNvPr>
          <p:cNvSpPr txBox="1"/>
          <p:nvPr/>
        </p:nvSpPr>
        <p:spPr>
          <a:xfrm>
            <a:off x="6807200" y="21590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7324D"/>
                </a:solidFill>
                <a:latin typeface="Aptos" panose="020B0004020202020204" pitchFamily="34" charset="0"/>
              </a:rPr>
              <a:t>Factual truth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D2DE1E-5A69-13B0-F4F3-7C88EF347117}"/>
              </a:ext>
            </a:extLst>
          </p:cNvPr>
          <p:cNvSpPr txBox="1"/>
          <p:nvPr/>
        </p:nvSpPr>
        <p:spPr>
          <a:xfrm>
            <a:off x="8407400" y="21717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Figures may not match real operations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05E355-9AEE-39D1-5FE3-7E41395E2E4C}"/>
              </a:ext>
            </a:extLst>
          </p:cNvPr>
          <p:cNvSpPr/>
          <p:nvPr/>
        </p:nvSpPr>
        <p:spPr>
          <a:xfrm>
            <a:off x="584200" y="2489200"/>
            <a:ext cx="5181600" cy="6985"/>
          </a:xfrm>
          <a:prstGeom prst="rect">
            <a:avLst/>
          </a:prstGeom>
          <a:solidFill>
            <a:srgbClr val="D8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E669AD-D105-B557-1CAB-E440CED66DDC}"/>
              </a:ext>
            </a:extLst>
          </p:cNvPr>
          <p:cNvSpPr/>
          <p:nvPr/>
        </p:nvSpPr>
        <p:spPr>
          <a:xfrm>
            <a:off x="6426200" y="2489200"/>
            <a:ext cx="5181600" cy="6985"/>
          </a:xfrm>
          <a:prstGeom prst="rect">
            <a:avLst/>
          </a:prstGeom>
          <a:solidFill>
            <a:srgbClr val="D8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A28A25B-7DFA-F1FC-1B56-C58FCF133296}"/>
              </a:ext>
            </a:extLst>
          </p:cNvPr>
          <p:cNvSpPr/>
          <p:nvPr/>
        </p:nvSpPr>
        <p:spPr>
          <a:xfrm>
            <a:off x="609600" y="2565400"/>
            <a:ext cx="228600" cy="228600"/>
          </a:xfrm>
          <a:prstGeom prst="ellipse">
            <a:avLst/>
          </a:prstGeom>
          <a:solidFill>
            <a:srgbClr val="D9F1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BA84AE-E025-4477-3348-70BE6747359E}"/>
              </a:ext>
            </a:extLst>
          </p:cNvPr>
          <p:cNvSpPr txBox="1"/>
          <p:nvPr/>
        </p:nvSpPr>
        <p:spPr>
          <a:xfrm>
            <a:off x="609600" y="25908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08776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F503B6-C567-D9CE-72C2-2876C8A5898D}"/>
              </a:ext>
            </a:extLst>
          </p:cNvPr>
          <p:cNvSpPr txBox="1"/>
          <p:nvPr/>
        </p:nvSpPr>
        <p:spPr>
          <a:xfrm>
            <a:off x="965200" y="25527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7324D"/>
                </a:solidFill>
                <a:latin typeface="Aptos" panose="020B0004020202020204" pitchFamily="34" charset="0"/>
              </a:rPr>
              <a:t>SOE authority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EED145-F31C-E986-602C-9BB47D2F0728}"/>
              </a:ext>
            </a:extLst>
          </p:cNvPr>
          <p:cNvSpPr txBox="1"/>
          <p:nvPr/>
        </p:nvSpPr>
        <p:spPr>
          <a:xfrm>
            <a:off x="2565400" y="2565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Approved role and nominated data owner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6ADAF80-C5E3-2DEB-5AD2-3FDF16E6B80C}"/>
              </a:ext>
            </a:extLst>
          </p:cNvPr>
          <p:cNvSpPr/>
          <p:nvPr/>
        </p:nvSpPr>
        <p:spPr>
          <a:xfrm>
            <a:off x="6451600" y="2565400"/>
            <a:ext cx="228600" cy="228600"/>
          </a:xfrm>
          <a:prstGeom prst="ellipse">
            <a:avLst/>
          </a:prstGeom>
          <a:solidFill>
            <a:srgbClr val="FFEDC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90248C-4824-0532-F906-599178C1DC57}"/>
              </a:ext>
            </a:extLst>
          </p:cNvPr>
          <p:cNvSpPr txBox="1"/>
          <p:nvPr/>
        </p:nvSpPr>
        <p:spPr>
          <a:xfrm>
            <a:off x="6451600" y="25908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B76C0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0AAA6D-B9BD-D91D-477E-BCB6780B70DF}"/>
              </a:ext>
            </a:extLst>
          </p:cNvPr>
          <p:cNvSpPr txBox="1"/>
          <p:nvPr/>
        </p:nvSpPr>
        <p:spPr>
          <a:xfrm>
            <a:off x="6807200" y="25527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7324D"/>
                </a:solidFill>
                <a:latin typeface="Aptos" panose="020B0004020202020204" pitchFamily="34" charset="0"/>
              </a:rPr>
              <a:t>Completeness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807114-BD42-934B-975A-50C15901659C}"/>
              </a:ext>
            </a:extLst>
          </p:cNvPr>
          <p:cNvSpPr txBox="1"/>
          <p:nvPr/>
        </p:nvSpPr>
        <p:spPr>
          <a:xfrm>
            <a:off x="8407400" y="2565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Assets, liabilities or events may be omitted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B277809-53A2-FEF3-7E98-4DE71E1369B1}"/>
              </a:ext>
            </a:extLst>
          </p:cNvPr>
          <p:cNvSpPr/>
          <p:nvPr/>
        </p:nvSpPr>
        <p:spPr>
          <a:xfrm>
            <a:off x="584200" y="2882900"/>
            <a:ext cx="5181600" cy="6985"/>
          </a:xfrm>
          <a:prstGeom prst="rect">
            <a:avLst/>
          </a:prstGeom>
          <a:solidFill>
            <a:srgbClr val="D8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4545BA6-7A51-1862-9582-A0B53CF1E70F}"/>
              </a:ext>
            </a:extLst>
          </p:cNvPr>
          <p:cNvSpPr/>
          <p:nvPr/>
        </p:nvSpPr>
        <p:spPr>
          <a:xfrm>
            <a:off x="6426200" y="2882900"/>
            <a:ext cx="5181600" cy="6985"/>
          </a:xfrm>
          <a:prstGeom prst="rect">
            <a:avLst/>
          </a:prstGeom>
          <a:solidFill>
            <a:srgbClr val="D8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1C36655-5CAE-3B4A-478F-DF6C6F10676F}"/>
              </a:ext>
            </a:extLst>
          </p:cNvPr>
          <p:cNvSpPr/>
          <p:nvPr/>
        </p:nvSpPr>
        <p:spPr>
          <a:xfrm>
            <a:off x="609600" y="2959100"/>
            <a:ext cx="228600" cy="228600"/>
          </a:xfrm>
          <a:prstGeom prst="ellipse">
            <a:avLst/>
          </a:prstGeom>
          <a:solidFill>
            <a:srgbClr val="D9F1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7A463E-3FEB-228F-B13D-032A9F29F899}"/>
              </a:ext>
            </a:extLst>
          </p:cNvPr>
          <p:cNvSpPr txBox="1"/>
          <p:nvPr/>
        </p:nvSpPr>
        <p:spPr>
          <a:xfrm>
            <a:off x="609600" y="29845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08776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D6C1EF-7C7F-8F94-B26C-9573B0AF5972}"/>
              </a:ext>
            </a:extLst>
          </p:cNvPr>
          <p:cNvSpPr txBox="1"/>
          <p:nvPr/>
        </p:nvSpPr>
        <p:spPr>
          <a:xfrm>
            <a:off x="965200" y="2946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7324D"/>
                </a:solidFill>
                <a:latin typeface="Aptos" panose="020B0004020202020204" pitchFamily="34" charset="0"/>
              </a:rPr>
              <a:t>Submission trail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21957A-2730-511B-8CF4-F717D528C58A}"/>
              </a:ext>
            </a:extLst>
          </p:cNvPr>
          <p:cNvSpPr txBox="1"/>
          <p:nvPr/>
        </p:nvSpPr>
        <p:spPr>
          <a:xfrm>
            <a:off x="2565400" y="29591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User, time, session and device recorded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E88438F-DFDD-D82A-8414-CBB42E931B08}"/>
              </a:ext>
            </a:extLst>
          </p:cNvPr>
          <p:cNvSpPr/>
          <p:nvPr/>
        </p:nvSpPr>
        <p:spPr>
          <a:xfrm>
            <a:off x="6451600" y="2959100"/>
            <a:ext cx="228600" cy="228600"/>
          </a:xfrm>
          <a:prstGeom prst="ellipse">
            <a:avLst/>
          </a:prstGeom>
          <a:solidFill>
            <a:srgbClr val="FFEDC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CC3D41-1B3C-0A15-9BA6-508FA8831DEA}"/>
              </a:ext>
            </a:extLst>
          </p:cNvPr>
          <p:cNvSpPr txBox="1"/>
          <p:nvPr/>
        </p:nvSpPr>
        <p:spPr>
          <a:xfrm>
            <a:off x="6451600" y="29845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B76C0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88E9C9-4DD3-5601-4AA3-CFBA00FCADE3}"/>
              </a:ext>
            </a:extLst>
          </p:cNvPr>
          <p:cNvSpPr txBox="1"/>
          <p:nvPr/>
        </p:nvSpPr>
        <p:spPr>
          <a:xfrm>
            <a:off x="6807200" y="29464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7324D"/>
                </a:solidFill>
                <a:latin typeface="Aptos" panose="020B0004020202020204" pitchFamily="34" charset="0"/>
              </a:rPr>
              <a:t>Source genuineness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EF6F25-20AC-4153-160A-0CB55F5D1E7D}"/>
              </a:ext>
            </a:extLst>
          </p:cNvPr>
          <p:cNvSpPr txBox="1"/>
          <p:nvPr/>
        </p:nvSpPr>
        <p:spPr>
          <a:xfrm>
            <a:off x="8407400" y="29591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Issuer validation may still be required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4D6DC4E-B952-E6E9-FFFC-DCEC9615F0C6}"/>
              </a:ext>
            </a:extLst>
          </p:cNvPr>
          <p:cNvSpPr/>
          <p:nvPr/>
        </p:nvSpPr>
        <p:spPr>
          <a:xfrm>
            <a:off x="584200" y="3276600"/>
            <a:ext cx="5181600" cy="6985"/>
          </a:xfrm>
          <a:prstGeom prst="rect">
            <a:avLst/>
          </a:prstGeom>
          <a:solidFill>
            <a:srgbClr val="D8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C9D5C5-2F40-823A-1EAE-19444A413ED8}"/>
              </a:ext>
            </a:extLst>
          </p:cNvPr>
          <p:cNvSpPr/>
          <p:nvPr/>
        </p:nvSpPr>
        <p:spPr>
          <a:xfrm>
            <a:off x="6426200" y="3276600"/>
            <a:ext cx="5181600" cy="6985"/>
          </a:xfrm>
          <a:prstGeom prst="rect">
            <a:avLst/>
          </a:prstGeom>
          <a:solidFill>
            <a:srgbClr val="D8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8FA8A9B-38C9-D581-8439-E7CE8BB514B2}"/>
              </a:ext>
            </a:extLst>
          </p:cNvPr>
          <p:cNvSpPr/>
          <p:nvPr/>
        </p:nvSpPr>
        <p:spPr>
          <a:xfrm>
            <a:off x="609600" y="3352800"/>
            <a:ext cx="228600" cy="228600"/>
          </a:xfrm>
          <a:prstGeom prst="ellipse">
            <a:avLst/>
          </a:prstGeom>
          <a:solidFill>
            <a:srgbClr val="D9F1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58F4D1-F9D7-60ED-FC5A-F481935F291D}"/>
              </a:ext>
            </a:extLst>
          </p:cNvPr>
          <p:cNvSpPr txBox="1"/>
          <p:nvPr/>
        </p:nvSpPr>
        <p:spPr>
          <a:xfrm>
            <a:off x="609600" y="33782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08776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79201C5-A0E2-E302-5881-D2BFB41A7348}"/>
              </a:ext>
            </a:extLst>
          </p:cNvPr>
          <p:cNvSpPr txBox="1"/>
          <p:nvPr/>
        </p:nvSpPr>
        <p:spPr>
          <a:xfrm>
            <a:off x="965200" y="33401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7324D"/>
                </a:solidFill>
                <a:latin typeface="Aptos" panose="020B0004020202020204" pitchFamily="34" charset="0"/>
              </a:rPr>
              <a:t>Record integrity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4ECC75-AE3B-8DD0-799D-CD3D7ED6AAA3}"/>
              </a:ext>
            </a:extLst>
          </p:cNvPr>
          <p:cNvSpPr txBox="1"/>
          <p:nvPr/>
        </p:nvSpPr>
        <p:spPr>
          <a:xfrm>
            <a:off x="2565400" y="33528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Versions, hashes and tamper-evident logs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D29C664-643E-DD2E-FBB0-BD44D7EFCF95}"/>
              </a:ext>
            </a:extLst>
          </p:cNvPr>
          <p:cNvSpPr/>
          <p:nvPr/>
        </p:nvSpPr>
        <p:spPr>
          <a:xfrm>
            <a:off x="6451600" y="3352800"/>
            <a:ext cx="228600" cy="228600"/>
          </a:xfrm>
          <a:prstGeom prst="ellipse">
            <a:avLst/>
          </a:prstGeom>
          <a:solidFill>
            <a:srgbClr val="FFEDC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6234727-02F2-28C0-894D-181E8AA351B4}"/>
              </a:ext>
            </a:extLst>
          </p:cNvPr>
          <p:cNvSpPr txBox="1"/>
          <p:nvPr/>
        </p:nvSpPr>
        <p:spPr>
          <a:xfrm>
            <a:off x="6451600" y="33782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B76C0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EEDFC3-EB2D-1A79-64A7-71A590224C16}"/>
              </a:ext>
            </a:extLst>
          </p:cNvPr>
          <p:cNvSpPr txBox="1"/>
          <p:nvPr/>
        </p:nvSpPr>
        <p:spPr>
          <a:xfrm>
            <a:off x="6807200" y="33401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7324D"/>
                </a:solidFill>
                <a:latin typeface="Aptos" panose="020B0004020202020204" pitchFamily="34" charset="0"/>
              </a:rPr>
              <a:t>Credential misuse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F5BFE8-6B0D-21F0-3FA6-18DE389072B9}"/>
              </a:ext>
            </a:extLst>
          </p:cNvPr>
          <p:cNvSpPr txBox="1"/>
          <p:nvPr/>
        </p:nvSpPr>
        <p:spPr>
          <a:xfrm>
            <a:off x="8407400" y="33528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Sharing, coercion or use by another person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3EAB2BE-7EFD-D967-9FDA-C4A7591DEE74}"/>
              </a:ext>
            </a:extLst>
          </p:cNvPr>
          <p:cNvSpPr/>
          <p:nvPr/>
        </p:nvSpPr>
        <p:spPr>
          <a:xfrm>
            <a:off x="584200" y="3670300"/>
            <a:ext cx="5181600" cy="6985"/>
          </a:xfrm>
          <a:prstGeom prst="rect">
            <a:avLst/>
          </a:prstGeom>
          <a:solidFill>
            <a:srgbClr val="D8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D04D4E1-1B46-C208-DF8F-521B8C13F14F}"/>
              </a:ext>
            </a:extLst>
          </p:cNvPr>
          <p:cNvSpPr/>
          <p:nvPr/>
        </p:nvSpPr>
        <p:spPr>
          <a:xfrm>
            <a:off x="6426200" y="3670300"/>
            <a:ext cx="5181600" cy="6985"/>
          </a:xfrm>
          <a:prstGeom prst="rect">
            <a:avLst/>
          </a:prstGeom>
          <a:solidFill>
            <a:srgbClr val="D8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AB958D5-D5EB-4A43-E7FA-B5128B1FD3F9}"/>
              </a:ext>
            </a:extLst>
          </p:cNvPr>
          <p:cNvSpPr/>
          <p:nvPr/>
        </p:nvSpPr>
        <p:spPr>
          <a:xfrm>
            <a:off x="609600" y="3746500"/>
            <a:ext cx="228600" cy="228600"/>
          </a:xfrm>
          <a:prstGeom prst="ellipse">
            <a:avLst/>
          </a:prstGeom>
          <a:solidFill>
            <a:srgbClr val="D9F1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7CDCD3B-B072-D482-7DE3-FDB70775B026}"/>
              </a:ext>
            </a:extLst>
          </p:cNvPr>
          <p:cNvSpPr txBox="1"/>
          <p:nvPr/>
        </p:nvSpPr>
        <p:spPr>
          <a:xfrm>
            <a:off x="609600" y="37719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08776B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3CEA91-D280-E520-90CD-2F849091D2C4}"/>
              </a:ext>
            </a:extLst>
          </p:cNvPr>
          <p:cNvSpPr txBox="1"/>
          <p:nvPr/>
        </p:nvSpPr>
        <p:spPr>
          <a:xfrm>
            <a:off x="965200" y="37338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7324D"/>
                </a:solidFill>
                <a:latin typeface="Aptos" panose="020B0004020202020204" pitchFamily="34" charset="0"/>
              </a:rPr>
              <a:t>Accountability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34DEB0F-4273-D648-7452-AD3C95D15F1D}"/>
              </a:ext>
            </a:extLst>
          </p:cNvPr>
          <p:cNvSpPr txBox="1"/>
          <p:nvPr/>
        </p:nvSpPr>
        <p:spPr>
          <a:xfrm>
            <a:off x="2565400" y="37465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Maker-checker approval and sign-off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02332FE-11B3-C584-77B3-B3DBAEFD1D07}"/>
              </a:ext>
            </a:extLst>
          </p:cNvPr>
          <p:cNvSpPr/>
          <p:nvPr/>
        </p:nvSpPr>
        <p:spPr>
          <a:xfrm>
            <a:off x="6451600" y="3746500"/>
            <a:ext cx="228600" cy="228600"/>
          </a:xfrm>
          <a:prstGeom prst="ellipse">
            <a:avLst/>
          </a:prstGeom>
          <a:solidFill>
            <a:srgbClr val="FFEDC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29F1184-0ACE-DA35-4DD9-CC87C3C8A361}"/>
              </a:ext>
            </a:extLst>
          </p:cNvPr>
          <p:cNvSpPr txBox="1"/>
          <p:nvPr/>
        </p:nvSpPr>
        <p:spPr>
          <a:xfrm>
            <a:off x="6451600" y="37719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B76C00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850579-8FB2-F995-B232-2F841B4F99C3}"/>
              </a:ext>
            </a:extLst>
          </p:cNvPr>
          <p:cNvSpPr txBox="1"/>
          <p:nvPr/>
        </p:nvSpPr>
        <p:spPr>
          <a:xfrm>
            <a:off x="6807200" y="37338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7324D"/>
                </a:solidFill>
                <a:latin typeface="Aptos" panose="020B0004020202020204" pitchFamily="34" charset="0"/>
              </a:rPr>
              <a:t>Offline conduct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9314A1-789E-F1FC-868F-FFB46C6EC126}"/>
              </a:ext>
            </a:extLst>
          </p:cNvPr>
          <p:cNvSpPr txBox="1"/>
          <p:nvPr/>
        </p:nvSpPr>
        <p:spPr>
          <a:xfrm>
            <a:off x="8407400" y="37465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Collusion or backdated evidence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4BC4991-5CF8-E3C2-26D2-9FC7B5807B0F}"/>
              </a:ext>
            </a:extLst>
          </p:cNvPr>
          <p:cNvSpPr/>
          <p:nvPr/>
        </p:nvSpPr>
        <p:spPr>
          <a:xfrm>
            <a:off x="381000" y="4419600"/>
            <a:ext cx="11430000" cy="1892300"/>
          </a:xfrm>
          <a:prstGeom prst="rect">
            <a:avLst/>
          </a:prstGeom>
          <a:solidFill>
            <a:srgbClr val="EAF1FB"/>
          </a:solidFill>
          <a:ln w="11430">
            <a:solidFill>
              <a:srgbClr val="CAD9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4B1F59-1148-C0FB-487E-2502B2965BF6}"/>
              </a:ext>
            </a:extLst>
          </p:cNvPr>
          <p:cNvSpPr txBox="1"/>
          <p:nvPr/>
        </p:nvSpPr>
        <p:spPr>
          <a:xfrm>
            <a:off x="609600" y="45847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B2B47"/>
                </a:solidFill>
                <a:latin typeface="Aptos" panose="020B0004020202020204" pitchFamily="34" charset="0"/>
              </a:rPr>
              <a:t>Recommended four-layer assurance model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6C4FE7E-DB01-D071-6EBC-6260F01F5208}"/>
              </a:ext>
            </a:extLst>
          </p:cNvPr>
          <p:cNvSpPr txBox="1"/>
          <p:nvPr/>
        </p:nvSpPr>
        <p:spPr>
          <a:xfrm>
            <a:off x="6883400" y="4610100"/>
            <a:ext cx="463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50">
                <a:solidFill>
                  <a:srgbClr val="5F758B"/>
                </a:solidFill>
                <a:latin typeface="Aptos" panose="020B0004020202020204" pitchFamily="34" charset="0"/>
              </a:rPr>
              <a:t>Confidence rises from identity controls to independent verification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11508E1-B1DF-D5F2-4167-42C1D93A6BB0}"/>
              </a:ext>
            </a:extLst>
          </p:cNvPr>
          <p:cNvSpPr/>
          <p:nvPr/>
        </p:nvSpPr>
        <p:spPr>
          <a:xfrm>
            <a:off x="609600" y="4914900"/>
            <a:ext cx="2565400" cy="850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A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7F89024-AC83-8902-CD05-BB2DC775CDDF}"/>
              </a:ext>
            </a:extLst>
          </p:cNvPr>
          <p:cNvSpPr/>
          <p:nvPr/>
        </p:nvSpPr>
        <p:spPr>
          <a:xfrm>
            <a:off x="762000" y="5067300"/>
            <a:ext cx="304800" cy="304800"/>
          </a:xfrm>
          <a:prstGeom prst="ellipse">
            <a:avLst/>
          </a:prstGeom>
          <a:solidFill>
            <a:srgbClr val="1766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AC2ADFF-E323-5DD2-6C1B-B6EAE5AC6819}"/>
              </a:ext>
            </a:extLst>
          </p:cNvPr>
          <p:cNvSpPr txBox="1"/>
          <p:nvPr/>
        </p:nvSpPr>
        <p:spPr>
          <a:xfrm>
            <a:off x="762000" y="51054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7D20BC3-39CA-7750-A138-D3AF1B4A82D2}"/>
              </a:ext>
            </a:extLst>
          </p:cNvPr>
          <p:cNvSpPr txBox="1"/>
          <p:nvPr/>
        </p:nvSpPr>
        <p:spPr>
          <a:xfrm>
            <a:off x="1193800" y="50419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2395E"/>
                </a:solidFill>
                <a:latin typeface="Aptos" panose="020B0004020202020204" pitchFamily="34" charset="0"/>
              </a:rPr>
              <a:t>Verify identity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202CD22-D673-1150-E7EE-92B462B9EA59}"/>
              </a:ext>
            </a:extLst>
          </p:cNvPr>
          <p:cNvSpPr txBox="1"/>
          <p:nvPr/>
        </p:nvSpPr>
        <p:spPr>
          <a:xfrm>
            <a:off x="1193800" y="5283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F758B"/>
                </a:solidFill>
                <a:latin typeface="Aptos" panose="020B0004020202020204" pitchFamily="34" charset="0"/>
              </a:rPr>
              <a:t>MFA/SSO + official SOE account ownership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98624A7-0B11-D565-EB37-74B8810137FA}"/>
              </a:ext>
            </a:extLst>
          </p:cNvPr>
          <p:cNvSpPr/>
          <p:nvPr/>
        </p:nvSpPr>
        <p:spPr>
          <a:xfrm>
            <a:off x="3340100" y="4914900"/>
            <a:ext cx="2565400" cy="850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A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C4101AC-3B27-3088-08A1-84283F566708}"/>
              </a:ext>
            </a:extLst>
          </p:cNvPr>
          <p:cNvSpPr/>
          <p:nvPr/>
        </p:nvSpPr>
        <p:spPr>
          <a:xfrm>
            <a:off x="3492500" y="5067300"/>
            <a:ext cx="304800" cy="304800"/>
          </a:xfrm>
          <a:prstGeom prst="ellipse">
            <a:avLst/>
          </a:prstGeom>
          <a:solidFill>
            <a:srgbClr val="1766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C5CEE2-330B-296C-5033-41E54CA51395}"/>
              </a:ext>
            </a:extLst>
          </p:cNvPr>
          <p:cNvSpPr txBox="1"/>
          <p:nvPr/>
        </p:nvSpPr>
        <p:spPr>
          <a:xfrm>
            <a:off x="3492500" y="51054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80EBCED-E712-2DE7-6D86-CEBC5D5C47D2}"/>
              </a:ext>
            </a:extLst>
          </p:cNvPr>
          <p:cNvSpPr txBox="1"/>
          <p:nvPr/>
        </p:nvSpPr>
        <p:spPr>
          <a:xfrm>
            <a:off x="3924300" y="50419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2395E"/>
                </a:solidFill>
                <a:latin typeface="Aptos" panose="020B0004020202020204" pitchFamily="34" charset="0"/>
              </a:rPr>
              <a:t>Control submission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CD8330-568F-C141-7CE2-8C203C1506FA}"/>
              </a:ext>
            </a:extLst>
          </p:cNvPr>
          <p:cNvSpPr txBox="1"/>
          <p:nvPr/>
        </p:nvSpPr>
        <p:spPr>
          <a:xfrm>
            <a:off x="3924300" y="5283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F758B"/>
                </a:solidFill>
                <a:latin typeface="Aptos" panose="020B0004020202020204" pitchFamily="34" charset="0"/>
              </a:rPr>
              <a:t>Role-based access + maker-checker sign-off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68C057F-BBAF-046D-1A35-627FA10B9D6C}"/>
              </a:ext>
            </a:extLst>
          </p:cNvPr>
          <p:cNvSpPr/>
          <p:nvPr/>
        </p:nvSpPr>
        <p:spPr>
          <a:xfrm>
            <a:off x="6070600" y="4914900"/>
            <a:ext cx="2565400" cy="850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A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82B96CF-A26F-2793-6CA5-0A9AEED27742}"/>
              </a:ext>
            </a:extLst>
          </p:cNvPr>
          <p:cNvSpPr/>
          <p:nvPr/>
        </p:nvSpPr>
        <p:spPr>
          <a:xfrm>
            <a:off x="6223000" y="5067300"/>
            <a:ext cx="304800" cy="304800"/>
          </a:xfrm>
          <a:prstGeom prst="ellipse">
            <a:avLst/>
          </a:prstGeom>
          <a:solidFill>
            <a:srgbClr val="1766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0922C6-FE56-1698-5432-6BA4903CB75D}"/>
              </a:ext>
            </a:extLst>
          </p:cNvPr>
          <p:cNvSpPr txBox="1"/>
          <p:nvPr/>
        </p:nvSpPr>
        <p:spPr>
          <a:xfrm>
            <a:off x="6223000" y="51054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2DCB608-FEA5-4491-0C0B-2A7941C891F0}"/>
              </a:ext>
            </a:extLst>
          </p:cNvPr>
          <p:cNvSpPr txBox="1"/>
          <p:nvPr/>
        </p:nvSpPr>
        <p:spPr>
          <a:xfrm>
            <a:off x="6654800" y="50419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2395E"/>
                </a:solidFill>
                <a:latin typeface="Aptos" panose="020B0004020202020204" pitchFamily="34" charset="0"/>
              </a:rPr>
              <a:t>Validate evidence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833A0C5-5313-D67B-94A8-B06310DEEAE6}"/>
              </a:ext>
            </a:extLst>
          </p:cNvPr>
          <p:cNvSpPr txBox="1"/>
          <p:nvPr/>
        </p:nvSpPr>
        <p:spPr>
          <a:xfrm>
            <a:off x="6654800" y="5283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F758B"/>
                </a:solidFill>
                <a:latin typeface="Aptos" panose="020B0004020202020204" pitchFamily="34" charset="0"/>
              </a:rPr>
              <a:t>Documents + SECP/FBR/PPRA cross-checks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3BE3FDD-2CC0-16E0-9162-F5B9947A300B}"/>
              </a:ext>
            </a:extLst>
          </p:cNvPr>
          <p:cNvSpPr/>
          <p:nvPr/>
        </p:nvSpPr>
        <p:spPr>
          <a:xfrm>
            <a:off x="8801100" y="4914900"/>
            <a:ext cx="2565400" cy="850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A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6D448ED-A7FC-5647-FE30-486FCE00B689}"/>
              </a:ext>
            </a:extLst>
          </p:cNvPr>
          <p:cNvSpPr/>
          <p:nvPr/>
        </p:nvSpPr>
        <p:spPr>
          <a:xfrm>
            <a:off x="8953500" y="5067300"/>
            <a:ext cx="304800" cy="304800"/>
          </a:xfrm>
          <a:prstGeom prst="ellipse">
            <a:avLst/>
          </a:prstGeom>
          <a:solidFill>
            <a:srgbClr val="1766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5A2FD23-E10D-DF89-18CF-864BC8A8C3F6}"/>
              </a:ext>
            </a:extLst>
          </p:cNvPr>
          <p:cNvSpPr txBox="1"/>
          <p:nvPr/>
        </p:nvSpPr>
        <p:spPr>
          <a:xfrm>
            <a:off x="8953500" y="51054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9FF5128-267C-5CD9-8B4B-B2541132D3DB}"/>
              </a:ext>
            </a:extLst>
          </p:cNvPr>
          <p:cNvSpPr txBox="1"/>
          <p:nvPr/>
        </p:nvSpPr>
        <p:spPr>
          <a:xfrm>
            <a:off x="9385300" y="50419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12395E"/>
                </a:solidFill>
                <a:latin typeface="Aptos" panose="020B0004020202020204" pitchFamily="34" charset="0"/>
              </a:rPr>
              <a:t>Assure independently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C6E8F84-EC3D-027B-43B9-C71E10F93915}"/>
              </a:ext>
            </a:extLst>
          </p:cNvPr>
          <p:cNvSpPr txBox="1"/>
          <p:nvPr/>
        </p:nvSpPr>
        <p:spPr>
          <a:xfrm>
            <a:off x="9385300" y="5283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F758B"/>
                </a:solidFill>
                <a:latin typeface="Aptos" panose="020B0004020202020204" pitchFamily="34" charset="0"/>
              </a:rPr>
              <a:t>Exception review + internal/third-party audit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56072C-27FF-FB36-8F18-AA9CF705C383}"/>
              </a:ext>
            </a:extLst>
          </p:cNvPr>
          <p:cNvSpPr/>
          <p:nvPr/>
        </p:nvSpPr>
        <p:spPr>
          <a:xfrm>
            <a:off x="609600" y="5880100"/>
            <a:ext cx="10972800" cy="317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4220E8C-1EF2-FC58-B9D7-9D8A2A1A6A9B}"/>
              </a:ext>
            </a:extLst>
          </p:cNvPr>
          <p:cNvSpPr/>
          <p:nvPr/>
        </p:nvSpPr>
        <p:spPr>
          <a:xfrm>
            <a:off x="609600" y="5880100"/>
            <a:ext cx="50800" cy="317500"/>
          </a:xfrm>
          <a:prstGeom prst="rect">
            <a:avLst/>
          </a:prstGeom>
          <a:solidFill>
            <a:srgbClr val="1484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6510A66-7E05-E71A-6083-562BFA350EC2}"/>
              </a:ext>
            </a:extLst>
          </p:cNvPr>
          <p:cNvSpPr txBox="1"/>
          <p:nvPr/>
        </p:nvSpPr>
        <p:spPr>
          <a:xfrm>
            <a:off x="787400" y="5956300"/>
            <a:ext cx="99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0D7067"/>
                </a:solidFill>
                <a:latin typeface="Aptos" panose="020B0004020202020204" pitchFamily="34" charset="0"/>
              </a:rPr>
              <a:t>BOTTOM LINE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6373992-55D0-8CA9-5F8C-2268010AEF41}"/>
              </a:ext>
            </a:extLst>
          </p:cNvPr>
          <p:cNvSpPr txBox="1"/>
          <p:nvPr/>
        </p:nvSpPr>
        <p:spPr>
          <a:xfrm>
            <a:off x="1803400" y="5930900"/>
            <a:ext cx="955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24445F"/>
                </a:solidFill>
                <a:latin typeface="Aptos" panose="020B0004020202020204" pitchFamily="34" charset="0"/>
              </a:rPr>
              <a:t>The platform proves who submitted what. Independent checks establish whether the underlying facts are true.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128BB77-CED6-5452-1489-3DEF182AFE7A}"/>
              </a:ext>
            </a:extLst>
          </p:cNvPr>
          <p:cNvSpPr/>
          <p:nvPr/>
        </p:nvSpPr>
        <p:spPr>
          <a:xfrm>
            <a:off x="381000" y="6464300"/>
            <a:ext cx="11430000" cy="8255"/>
          </a:xfrm>
          <a:prstGeom prst="rect">
            <a:avLst/>
          </a:prstGeom>
          <a:solidFill>
            <a:srgbClr val="D8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E1E5776-C52C-D774-7B34-F7301F836405}"/>
              </a:ext>
            </a:extLst>
          </p:cNvPr>
          <p:cNvSpPr txBox="1"/>
          <p:nvPr/>
        </p:nvSpPr>
        <p:spPr>
          <a:xfrm>
            <a:off x="381000" y="6553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5F758B"/>
                </a:solidFill>
                <a:latin typeface="Aptos" panose="020B0004020202020204" pitchFamily="34" charset="0"/>
              </a:rPr>
              <a:t>SOE Governance Platform  |  Data assurance principle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7B35C66-8DA4-EEDD-376C-1667839ACDBF}"/>
              </a:ext>
            </a:extLst>
          </p:cNvPr>
          <p:cNvSpPr/>
          <p:nvPr/>
        </p:nvSpPr>
        <p:spPr>
          <a:xfrm>
            <a:off x="8636000" y="6578600"/>
            <a:ext cx="88900" cy="88900"/>
          </a:xfrm>
          <a:prstGeom prst="ellipse">
            <a:avLst/>
          </a:prstGeom>
          <a:solidFill>
            <a:srgbClr val="1484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F84142E-9EF5-2F03-C8CB-0581EDD4D91E}"/>
              </a:ext>
            </a:extLst>
          </p:cNvPr>
          <p:cNvSpPr txBox="1"/>
          <p:nvPr/>
        </p:nvSpPr>
        <p:spPr>
          <a:xfrm>
            <a:off x="8775700" y="65532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5F758B"/>
                </a:solidFill>
                <a:latin typeface="Aptos" panose="020B0004020202020204" pitchFamily="34" charset="0"/>
              </a:rPr>
              <a:t>Authenticated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0572EE7-B668-C53D-C7A6-A1C40B061A01}"/>
              </a:ext>
            </a:extLst>
          </p:cNvPr>
          <p:cNvSpPr/>
          <p:nvPr/>
        </p:nvSpPr>
        <p:spPr>
          <a:xfrm>
            <a:off x="9829800" y="6578600"/>
            <a:ext cx="88900" cy="88900"/>
          </a:xfrm>
          <a:prstGeom prst="ellipse">
            <a:avLst/>
          </a:prstGeom>
          <a:solidFill>
            <a:srgbClr val="D889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B88472B-61C2-573B-B84A-68B9C8B9E207}"/>
              </a:ext>
            </a:extLst>
          </p:cNvPr>
          <p:cNvSpPr txBox="1"/>
          <p:nvPr/>
        </p:nvSpPr>
        <p:spPr>
          <a:xfrm>
            <a:off x="9969500" y="6553200"/>
            <a:ext cx="1104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5F758B"/>
                </a:solidFill>
                <a:latin typeface="Aptos" panose="020B0004020202020204" pitchFamily="34" charset="0"/>
              </a:rPr>
              <a:t>Needs verification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9F2620E-2652-49B3-196D-B643630AB8EE}"/>
              </a:ext>
            </a:extLst>
          </p:cNvPr>
          <p:cNvSpPr/>
          <p:nvPr/>
        </p:nvSpPr>
        <p:spPr>
          <a:xfrm>
            <a:off x="11125200" y="6578600"/>
            <a:ext cx="88900" cy="88900"/>
          </a:xfrm>
          <a:prstGeom prst="ellipse">
            <a:avLst/>
          </a:prstGeom>
          <a:solidFill>
            <a:srgbClr val="1766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885128E-5D29-A323-AD56-795C0812163E}"/>
              </a:ext>
            </a:extLst>
          </p:cNvPr>
          <p:cNvSpPr txBox="1"/>
          <p:nvPr/>
        </p:nvSpPr>
        <p:spPr>
          <a:xfrm>
            <a:off x="11264900" y="6553200"/>
            <a:ext cx="546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5F758B"/>
                </a:solidFill>
                <a:latin typeface="Aptos" panose="020B0004020202020204" pitchFamily="34" charset="0"/>
              </a:rPr>
              <a:t>Assurance</a:t>
            </a:r>
          </a:p>
        </p:txBody>
      </p:sp>
    </p:spTree>
    <p:extLst>
      <p:ext uri="{BB962C8B-B14F-4D97-AF65-F5344CB8AC3E}">
        <p14:creationId xmlns:p14="http://schemas.microsoft.com/office/powerpoint/2010/main" val="2118635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Custom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2026-08-24T07:12:46Z</dcterms:created>
  <dcterms:modified xsi:type="dcterms:W3CDTF">2026-08-24T07:12:46Z</dcterms:modified>
</cp:coreProperties>
</file>